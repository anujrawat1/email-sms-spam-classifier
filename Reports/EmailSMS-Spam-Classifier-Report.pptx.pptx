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3"/>
    </p:embeddedFont>
    <p:embeddedFont>
      <p:font typeface="Arimo Bold" panose="020B0604020202020204" charset="0"/>
      <p:regular r:id="rId14"/>
    </p:embeddedFont>
    <p:embeddedFont>
      <p:font typeface="Martel Sans" panose="020B0604020202020204" charset="0"/>
      <p:regular r:id="rId15"/>
    </p:embeddedFont>
    <p:embeddedFont>
      <p:font typeface="Martel Sa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163" autoAdjust="0"/>
  </p:normalViewPr>
  <p:slideViewPr>
    <p:cSldViewPr>
      <p:cViewPr varScale="1">
        <p:scale>
          <a:sx n="61" d="100"/>
          <a:sy n="61" d="100"/>
        </p:scale>
        <p:origin x="32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74" y="0"/>
            <a:ext cx="18288074" cy="10336707"/>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r>
                <a:rPr lang="en-US" dirty="0"/>
                <a:t>f</a:t>
              </a:r>
            </a:p>
          </p:txBody>
        </p:sp>
      </p:grpSp>
      <p:sp>
        <p:nvSpPr>
          <p:cNvPr id="6" name="Freeform 6" descr="preencoded.png"/>
          <p:cNvSpPr/>
          <p:nvPr/>
        </p:nvSpPr>
        <p:spPr>
          <a:xfrm>
            <a:off x="7877924" y="2063312"/>
            <a:ext cx="2849910" cy="2785021"/>
          </a:xfrm>
          <a:custGeom>
            <a:avLst/>
            <a:gdLst/>
            <a:ahLst/>
            <a:cxnLst/>
            <a:rect l="l" t="t" r="r" b="b"/>
            <a:pathLst>
              <a:path w="2849910" h="2785021">
                <a:moveTo>
                  <a:pt x="0" y="0"/>
                </a:moveTo>
                <a:lnTo>
                  <a:pt x="2849910" y="0"/>
                </a:lnTo>
                <a:lnTo>
                  <a:pt x="2849910" y="2785021"/>
                </a:lnTo>
                <a:lnTo>
                  <a:pt x="0" y="2785021"/>
                </a:lnTo>
                <a:lnTo>
                  <a:pt x="0" y="0"/>
                </a:lnTo>
                <a:close/>
              </a:path>
            </a:pathLst>
          </a:custGeom>
          <a:blipFill>
            <a:blip r:embed="rId3"/>
            <a:stretch>
              <a:fillRect l="-32" r="-32"/>
            </a:stretch>
          </a:blipFill>
        </p:spPr>
      </p:sp>
      <p:sp>
        <p:nvSpPr>
          <p:cNvPr id="7" name="TextBox 7"/>
          <p:cNvSpPr txBox="1"/>
          <p:nvPr/>
        </p:nvSpPr>
        <p:spPr>
          <a:xfrm>
            <a:off x="6204202" y="5257973"/>
            <a:ext cx="6383685" cy="362991"/>
          </a:xfrm>
          <a:prstGeom prst="rect">
            <a:avLst/>
          </a:prstGeom>
        </p:spPr>
        <p:txBody>
          <a:bodyPr lIns="0" tIns="0" rIns="0" bIns="0" rtlCol="0" anchor="t">
            <a:spAutoFit/>
          </a:bodyPr>
          <a:lstStyle/>
          <a:p>
            <a:pPr algn="ctr">
              <a:lnSpc>
                <a:spcPts val="2687"/>
              </a:lnSpc>
            </a:pPr>
            <a:r>
              <a:rPr lang="en-US" sz="2125" b="1">
                <a:solidFill>
                  <a:srgbClr val="272D45"/>
                </a:solidFill>
                <a:latin typeface="Arimo Bold"/>
                <a:ea typeface="Arimo Bold"/>
                <a:cs typeface="Arimo Bold"/>
                <a:sym typeface="Arimo Bold"/>
              </a:rPr>
              <a:t>Department of Computer Science and Engineering</a:t>
            </a:r>
          </a:p>
        </p:txBody>
      </p:sp>
      <p:sp>
        <p:nvSpPr>
          <p:cNvPr id="8" name="TextBox 8"/>
          <p:cNvSpPr txBox="1"/>
          <p:nvPr/>
        </p:nvSpPr>
        <p:spPr>
          <a:xfrm>
            <a:off x="7711533" y="5932166"/>
            <a:ext cx="3369171" cy="668003"/>
          </a:xfrm>
          <a:prstGeom prst="rect">
            <a:avLst/>
          </a:prstGeom>
        </p:spPr>
        <p:txBody>
          <a:bodyPr wrap="square" lIns="0" tIns="0" rIns="0" bIns="0" rtlCol="0" anchor="t">
            <a:spAutoFit/>
          </a:bodyPr>
          <a:lstStyle/>
          <a:p>
            <a:pPr algn="ctr">
              <a:lnSpc>
                <a:spcPts val="2687"/>
              </a:lnSpc>
            </a:pPr>
            <a:r>
              <a:rPr lang="en-US" sz="2125" b="1" dirty="0">
                <a:solidFill>
                  <a:srgbClr val="272D45"/>
                </a:solidFill>
                <a:latin typeface="Arimo Bold"/>
                <a:ea typeface="Arimo Bold"/>
                <a:cs typeface="Arimo Bold"/>
                <a:sym typeface="Arimo Bold"/>
              </a:rPr>
              <a:t>Graphic Era Hill University</a:t>
            </a:r>
          </a:p>
        </p:txBody>
      </p:sp>
      <p:sp>
        <p:nvSpPr>
          <p:cNvPr id="9" name="TextBox 9"/>
          <p:cNvSpPr txBox="1"/>
          <p:nvPr/>
        </p:nvSpPr>
        <p:spPr>
          <a:xfrm>
            <a:off x="7888787" y="6606357"/>
            <a:ext cx="3014514" cy="362991"/>
          </a:xfrm>
          <a:prstGeom prst="rect">
            <a:avLst/>
          </a:prstGeom>
        </p:spPr>
        <p:txBody>
          <a:bodyPr lIns="0" tIns="0" rIns="0" bIns="0" rtlCol="0" anchor="t">
            <a:spAutoFit/>
          </a:bodyPr>
          <a:lstStyle/>
          <a:p>
            <a:pPr algn="ctr">
              <a:lnSpc>
                <a:spcPts val="2687"/>
              </a:lnSpc>
            </a:pPr>
            <a:r>
              <a:rPr lang="en-US" sz="2125" b="1">
                <a:solidFill>
                  <a:srgbClr val="272D45"/>
                </a:solidFill>
                <a:latin typeface="Arimo Bold"/>
                <a:ea typeface="Arimo Bold"/>
                <a:cs typeface="Arimo Bold"/>
                <a:sym typeface="Arimo Bold"/>
              </a:rPr>
              <a:t>Dehradun, Uttarakhand</a:t>
            </a:r>
          </a:p>
        </p:txBody>
      </p:sp>
      <p:sp>
        <p:nvSpPr>
          <p:cNvPr id="10" name="TextBox 10"/>
          <p:cNvSpPr txBox="1"/>
          <p:nvPr/>
        </p:nvSpPr>
        <p:spPr>
          <a:xfrm>
            <a:off x="8020053" y="7280548"/>
            <a:ext cx="2751981" cy="362991"/>
          </a:xfrm>
          <a:prstGeom prst="rect">
            <a:avLst/>
          </a:prstGeom>
        </p:spPr>
        <p:txBody>
          <a:bodyPr lIns="0" tIns="0" rIns="0" bIns="0" rtlCol="0" anchor="t">
            <a:spAutoFit/>
          </a:bodyPr>
          <a:lstStyle/>
          <a:p>
            <a:pPr algn="ctr">
              <a:lnSpc>
                <a:spcPts val="2687"/>
              </a:lnSpc>
            </a:pPr>
            <a:r>
              <a:rPr lang="en-US" sz="2125" b="1">
                <a:solidFill>
                  <a:srgbClr val="272D45"/>
                </a:solidFill>
                <a:latin typeface="Arimo Bold"/>
                <a:ea typeface="Arimo Bold"/>
                <a:cs typeface="Arimo Bold"/>
                <a:sym typeface="Arimo Bold"/>
              </a:rPr>
              <a:t>January-2025</a:t>
            </a:r>
          </a:p>
        </p:txBody>
      </p:sp>
      <p:sp>
        <p:nvSpPr>
          <p:cNvPr id="11" name="TextBox 11"/>
          <p:cNvSpPr txBox="1"/>
          <p:nvPr/>
        </p:nvSpPr>
        <p:spPr>
          <a:xfrm>
            <a:off x="770484" y="8031510"/>
            <a:ext cx="16747034" cy="572976"/>
          </a:xfrm>
          <a:prstGeom prst="rect">
            <a:avLst/>
          </a:prstGeom>
        </p:spPr>
        <p:txBody>
          <a:bodyPr lIns="0" tIns="0" rIns="0" bIns="0" rtlCol="0" anchor="t">
            <a:spAutoFit/>
          </a:bodyPr>
          <a:lstStyle/>
          <a:p>
            <a:pPr algn="l">
              <a:lnSpc>
                <a:spcPts val="4893"/>
              </a:lnSpc>
            </a:pPr>
            <a:r>
              <a:rPr lang="en-US" sz="3024" b="1">
                <a:solidFill>
                  <a:srgbClr val="2C3249"/>
                </a:solidFill>
                <a:latin typeface="Martel Sans Bold"/>
                <a:ea typeface="Martel Sans Bold"/>
                <a:cs typeface="Martel Sans Bold"/>
                <a:sym typeface="Martel Sans Bold"/>
              </a:rPr>
              <a:t>Submitted by :</a:t>
            </a:r>
          </a:p>
        </p:txBody>
      </p:sp>
      <p:sp>
        <p:nvSpPr>
          <p:cNvPr id="12" name="TextBox 12"/>
          <p:cNvSpPr txBox="1"/>
          <p:nvPr/>
        </p:nvSpPr>
        <p:spPr>
          <a:xfrm>
            <a:off x="1028700" y="8647654"/>
            <a:ext cx="16416784" cy="1105207"/>
          </a:xfrm>
          <a:prstGeom prst="rect">
            <a:avLst/>
          </a:prstGeom>
        </p:spPr>
        <p:txBody>
          <a:bodyPr lIns="0" tIns="0" rIns="0" bIns="0" rtlCol="0" anchor="t">
            <a:spAutoFit/>
          </a:bodyPr>
          <a:lstStyle/>
          <a:p>
            <a:pPr algn="l">
              <a:lnSpc>
                <a:spcPts val="4542"/>
              </a:lnSpc>
            </a:pPr>
            <a:r>
              <a:rPr lang="en-US" sz="2787">
                <a:solidFill>
                  <a:srgbClr val="2C3249"/>
                </a:solidFill>
                <a:latin typeface="Martel Sans"/>
                <a:ea typeface="Martel Sans"/>
                <a:cs typeface="Martel Sans"/>
                <a:sym typeface="Martel Sans"/>
              </a:rPr>
              <a:t>Student Name         :  </a:t>
            </a:r>
            <a:r>
              <a:rPr lang="en-US" sz="2787" b="1" i="1">
                <a:solidFill>
                  <a:srgbClr val="2C3249"/>
                </a:solidFill>
                <a:latin typeface="Martel Sans Bold"/>
                <a:ea typeface="Martel Sans Bold"/>
                <a:cs typeface="Martel Sans Bold"/>
                <a:sym typeface="Martel Sans Bold"/>
              </a:rPr>
              <a:t>Anuj Rawat </a:t>
            </a:r>
            <a:r>
              <a:rPr lang="en-US" sz="2787">
                <a:solidFill>
                  <a:srgbClr val="2C3249"/>
                </a:solidFill>
                <a:latin typeface="Martel Sans"/>
                <a:ea typeface="Martel Sans"/>
                <a:cs typeface="Martel Sans"/>
                <a:sym typeface="Martel Sans"/>
              </a:rPr>
              <a:t>                                                                                                                     University Roll No.  :  </a:t>
            </a:r>
            <a:r>
              <a:rPr lang="en-US" sz="2787" b="1" i="1">
                <a:solidFill>
                  <a:srgbClr val="2C3249"/>
                </a:solidFill>
                <a:latin typeface="Martel Sans Bold"/>
                <a:ea typeface="Martel Sans Bold"/>
                <a:cs typeface="Martel Sans Bold"/>
                <a:sym typeface="Martel Sans Bold"/>
              </a:rPr>
              <a:t>2218433                                                                            </a:t>
            </a:r>
          </a:p>
        </p:txBody>
      </p:sp>
      <p:grpSp>
        <p:nvGrpSpPr>
          <p:cNvPr id="13" name="Group 13"/>
          <p:cNvGrpSpPr/>
          <p:nvPr/>
        </p:nvGrpSpPr>
        <p:grpSpPr>
          <a:xfrm>
            <a:off x="770484" y="8833694"/>
            <a:ext cx="28575" cy="847427"/>
            <a:chOff x="0" y="0"/>
            <a:chExt cx="38100" cy="1129903"/>
          </a:xfrm>
        </p:grpSpPr>
        <p:sp>
          <p:nvSpPr>
            <p:cNvPr id="14" name="Freeform 14"/>
            <p:cNvSpPr/>
            <p:nvPr/>
          </p:nvSpPr>
          <p:spPr>
            <a:xfrm>
              <a:off x="0" y="0"/>
              <a:ext cx="38100" cy="1129919"/>
            </a:xfrm>
            <a:custGeom>
              <a:avLst/>
              <a:gdLst/>
              <a:ahLst/>
              <a:cxnLst/>
              <a:rect l="l" t="t" r="r" b="b"/>
              <a:pathLst>
                <a:path w="38100" h="1129919">
                  <a:moveTo>
                    <a:pt x="0" y="0"/>
                  </a:moveTo>
                  <a:lnTo>
                    <a:pt x="38100" y="0"/>
                  </a:lnTo>
                  <a:lnTo>
                    <a:pt x="38100" y="1129919"/>
                  </a:lnTo>
                  <a:lnTo>
                    <a:pt x="0" y="1129919"/>
                  </a:lnTo>
                  <a:close/>
                </a:path>
              </a:pathLst>
            </a:custGeom>
            <a:solidFill>
              <a:srgbClr val="437066"/>
            </a:solidFill>
          </p:spPr>
        </p:sp>
      </p:grpSp>
      <p:sp>
        <p:nvSpPr>
          <p:cNvPr id="15" name="TextBox 15"/>
          <p:cNvSpPr txBox="1"/>
          <p:nvPr/>
        </p:nvSpPr>
        <p:spPr>
          <a:xfrm>
            <a:off x="1905000" y="210609"/>
            <a:ext cx="15087599" cy="1474763"/>
          </a:xfrm>
          <a:prstGeom prst="rect">
            <a:avLst/>
          </a:prstGeom>
        </p:spPr>
        <p:txBody>
          <a:bodyPr wrap="square" lIns="0" tIns="0" rIns="0" bIns="0" rtlCol="0" anchor="t">
            <a:spAutoFit/>
          </a:bodyPr>
          <a:lstStyle/>
          <a:p>
            <a:pPr algn="ctr">
              <a:lnSpc>
                <a:spcPts val="11463"/>
              </a:lnSpc>
              <a:spcBef>
                <a:spcPct val="0"/>
              </a:spcBef>
            </a:pPr>
            <a:r>
              <a:rPr lang="en-US" sz="7038" dirty="0">
                <a:solidFill>
                  <a:srgbClr val="000000"/>
                </a:solidFill>
                <a:latin typeface="Martel Sans"/>
                <a:ea typeface="Martel Sans"/>
                <a:cs typeface="Martel Sans"/>
                <a:sym typeface="Martel Sans"/>
              </a:rPr>
              <a:t>Email/SMS Spam Classifier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850237" y="2400002"/>
            <a:ext cx="9445526" cy="1791653"/>
          </a:xfrm>
          <a:prstGeom prst="rect">
            <a:avLst/>
          </a:prstGeom>
        </p:spPr>
        <p:txBody>
          <a:bodyPr lIns="0" tIns="0" rIns="0" bIns="0" rtlCol="0" anchor="t">
            <a:spAutoFit/>
          </a:bodyPr>
          <a:lstStyle/>
          <a:p>
            <a:pPr algn="l">
              <a:lnSpc>
                <a:spcPts val="6937"/>
              </a:lnSpc>
            </a:pPr>
            <a:r>
              <a:rPr lang="en-US" sz="5562" b="1">
                <a:solidFill>
                  <a:srgbClr val="272D45"/>
                </a:solidFill>
                <a:latin typeface="Arimo Bold"/>
                <a:ea typeface="Arimo Bold"/>
                <a:cs typeface="Arimo Bold"/>
                <a:sym typeface="Arimo Bold"/>
              </a:rPr>
              <a:t>Email/SMS Spam Classifier Report</a:t>
            </a:r>
          </a:p>
        </p:txBody>
      </p:sp>
      <p:sp>
        <p:nvSpPr>
          <p:cNvPr id="8" name="TextBox 8"/>
          <p:cNvSpPr txBox="1"/>
          <p:nvPr/>
        </p:nvSpPr>
        <p:spPr>
          <a:xfrm>
            <a:off x="7850237" y="4568577"/>
            <a:ext cx="9445526" cy="3261122"/>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The Email/SMS Spam Classifier is an advanced machine learning application designed to identify and filter out spam messages effectively. It uses Natural Language Processing (NLP) techniques for text preprocessing and a machine learning classifier for predictions. This project addresses the growing need for automated tools to manage unsolicited messages, ensuring users only receive relevant and important communications.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3162300"/>
            <a:ext cx="18288000" cy="71247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7" y="1998612"/>
            <a:ext cx="7088237" cy="925584"/>
          </a:xfrm>
          <a:prstGeom prst="rect">
            <a:avLst/>
          </a:prstGeom>
        </p:spPr>
        <p:txBody>
          <a:bodyPr lIns="0" tIns="0" rIns="0" bIns="0" rtlCol="0" anchor="t">
            <a:spAutoFit/>
          </a:bodyPr>
          <a:lstStyle/>
          <a:p>
            <a:pPr algn="l">
              <a:lnSpc>
                <a:spcPts val="7186"/>
              </a:lnSpc>
            </a:pPr>
            <a:r>
              <a:rPr lang="en-US" sz="5762" b="1">
                <a:solidFill>
                  <a:srgbClr val="272D45"/>
                </a:solidFill>
                <a:latin typeface="Arimo Bold"/>
                <a:ea typeface="Arimo Bold"/>
                <a:cs typeface="Arimo Bold"/>
                <a:sym typeface="Arimo Bold"/>
              </a:rPr>
              <a:t>Problem Statement</a:t>
            </a:r>
          </a:p>
        </p:txBody>
      </p:sp>
      <p:sp>
        <p:nvSpPr>
          <p:cNvPr id="7" name="TextBox 7"/>
          <p:cNvSpPr txBox="1"/>
          <p:nvPr/>
        </p:nvSpPr>
        <p:spPr>
          <a:xfrm>
            <a:off x="992238" y="3602831"/>
            <a:ext cx="4352925" cy="481012"/>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Increasing Spam Messages</a:t>
            </a:r>
          </a:p>
        </p:txBody>
      </p:sp>
      <p:sp>
        <p:nvSpPr>
          <p:cNvPr id="8" name="TextBox 8"/>
          <p:cNvSpPr txBox="1"/>
          <p:nvPr/>
        </p:nvSpPr>
        <p:spPr>
          <a:xfrm>
            <a:off x="1028700" y="4724549"/>
            <a:ext cx="4972645" cy="3261122"/>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The surge in email and SMS usage has led to a significant increase in spam messages, including advertisements, phishing scams, and irrelevant content. These messages disrupt user experience and may pose security risks.</a:t>
            </a:r>
          </a:p>
        </p:txBody>
      </p:sp>
      <p:sp>
        <p:nvSpPr>
          <p:cNvPr id="9" name="TextBox 9"/>
          <p:cNvSpPr txBox="1"/>
          <p:nvPr/>
        </p:nvSpPr>
        <p:spPr>
          <a:xfrm>
            <a:off x="6666160" y="3602831"/>
            <a:ext cx="4974431" cy="923925"/>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Challenges in Manual Filtering</a:t>
            </a:r>
          </a:p>
        </p:txBody>
      </p:sp>
      <p:sp>
        <p:nvSpPr>
          <p:cNvPr id="10" name="TextBox 10"/>
          <p:cNvSpPr txBox="1"/>
          <p:nvPr/>
        </p:nvSpPr>
        <p:spPr>
          <a:xfrm>
            <a:off x="6666160" y="4724549"/>
            <a:ext cx="4974431" cy="3261122"/>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Manually identifying spam is time-consuming and prone to errors. With the sheer volume of messages received daily, automated tools are essential to streamline communication and enhance user productivity.</a:t>
            </a:r>
          </a:p>
        </p:txBody>
      </p:sp>
      <p:sp>
        <p:nvSpPr>
          <p:cNvPr id="11" name="TextBox 11"/>
          <p:cNvSpPr txBox="1"/>
          <p:nvPr/>
        </p:nvSpPr>
        <p:spPr>
          <a:xfrm>
            <a:off x="12341870" y="3602831"/>
            <a:ext cx="4972645" cy="923925"/>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Need for Automated Solutions</a:t>
            </a:r>
          </a:p>
        </p:txBody>
      </p:sp>
      <p:sp>
        <p:nvSpPr>
          <p:cNvPr id="12" name="TextBox 12"/>
          <p:cNvSpPr txBox="1"/>
          <p:nvPr/>
        </p:nvSpPr>
        <p:spPr>
          <a:xfrm>
            <a:off x="12341870" y="4724549"/>
            <a:ext cx="4972645" cy="3261122"/>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An efficient spam detection system is necessary to filter unwanted messages, improve security, and ensure only relevant communications reach the user. The goal is to balance accuracy and speed in spam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3314700"/>
            <a:ext cx="18288000" cy="69723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1028700" y="1890807"/>
            <a:ext cx="7088237" cy="907733"/>
          </a:xfrm>
          <a:prstGeom prst="rect">
            <a:avLst/>
          </a:prstGeom>
        </p:spPr>
        <p:txBody>
          <a:bodyPr lIns="0" tIns="0" rIns="0" bIns="0" rtlCol="0" anchor="t">
            <a:spAutoFit/>
          </a:bodyPr>
          <a:lstStyle/>
          <a:p>
            <a:pPr algn="l">
              <a:lnSpc>
                <a:spcPts val="6937"/>
              </a:lnSpc>
            </a:pPr>
            <a:r>
              <a:rPr lang="en-US" sz="5562" b="1">
                <a:solidFill>
                  <a:srgbClr val="272D45"/>
                </a:solidFill>
                <a:latin typeface="Arimo Bold"/>
                <a:ea typeface="Arimo Bold"/>
                <a:cs typeface="Arimo Bold"/>
                <a:sym typeface="Arimo Bold"/>
              </a:rPr>
              <a:t>Project Objectives</a:t>
            </a:r>
          </a:p>
        </p:txBody>
      </p:sp>
      <p:sp>
        <p:nvSpPr>
          <p:cNvPr id="7" name="TextBox 7"/>
          <p:cNvSpPr txBox="1"/>
          <p:nvPr/>
        </p:nvSpPr>
        <p:spPr>
          <a:xfrm>
            <a:off x="992237" y="4277916"/>
            <a:ext cx="3944242" cy="877888"/>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Accurate Spam Detection</a:t>
            </a:r>
          </a:p>
        </p:txBody>
      </p:sp>
      <p:sp>
        <p:nvSpPr>
          <p:cNvPr id="8" name="TextBox 8"/>
          <p:cNvSpPr txBox="1"/>
          <p:nvPr/>
        </p:nvSpPr>
        <p:spPr>
          <a:xfrm>
            <a:off x="992238" y="5637163"/>
            <a:ext cx="4972645" cy="2353866"/>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Develop a system capable of identifying and filtering spam messages with high accuracy, minimizing false positives and negatives.</a:t>
            </a:r>
          </a:p>
        </p:txBody>
      </p:sp>
      <p:sp>
        <p:nvSpPr>
          <p:cNvPr id="9" name="TextBox 9"/>
          <p:cNvSpPr txBox="1"/>
          <p:nvPr/>
        </p:nvSpPr>
        <p:spPr>
          <a:xfrm>
            <a:off x="6666160" y="4277916"/>
            <a:ext cx="3775621" cy="877888"/>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Real-Time Classification</a:t>
            </a:r>
          </a:p>
        </p:txBody>
      </p:sp>
      <p:sp>
        <p:nvSpPr>
          <p:cNvPr id="10" name="TextBox 10"/>
          <p:cNvSpPr txBox="1"/>
          <p:nvPr/>
        </p:nvSpPr>
        <p:spPr>
          <a:xfrm>
            <a:off x="6666161" y="5637163"/>
            <a:ext cx="4972645" cy="1900237"/>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Enable efficient processing of incoming messages in real-time, ensuring rapid identification and filtering of spam messages.</a:t>
            </a:r>
          </a:p>
        </p:txBody>
      </p:sp>
      <p:sp>
        <p:nvSpPr>
          <p:cNvPr id="11" name="TextBox 11"/>
          <p:cNvSpPr txBox="1"/>
          <p:nvPr/>
        </p:nvSpPr>
        <p:spPr>
          <a:xfrm>
            <a:off x="12340084" y="4277916"/>
            <a:ext cx="4309765" cy="877888"/>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Scalability and Adaptability</a:t>
            </a:r>
          </a:p>
        </p:txBody>
      </p:sp>
      <p:sp>
        <p:nvSpPr>
          <p:cNvPr id="12" name="TextBox 12"/>
          <p:cNvSpPr txBox="1"/>
          <p:nvPr/>
        </p:nvSpPr>
        <p:spPr>
          <a:xfrm>
            <a:off x="12343656" y="5637163"/>
            <a:ext cx="4972645" cy="2353866"/>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Design a system that can handle large volumes of data and adapt to evolving spam patterns without significant performance degradation.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6299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9067800" y="0"/>
            <a:ext cx="9448800" cy="106299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7" y="1983730"/>
            <a:ext cx="12420302" cy="1791653"/>
          </a:xfrm>
          <a:prstGeom prst="rect">
            <a:avLst/>
          </a:prstGeom>
        </p:spPr>
        <p:txBody>
          <a:bodyPr lIns="0" tIns="0" rIns="0" bIns="0" rtlCol="0" anchor="t">
            <a:spAutoFit/>
          </a:bodyPr>
          <a:lstStyle/>
          <a:p>
            <a:pPr algn="l">
              <a:lnSpc>
                <a:spcPts val="6937"/>
              </a:lnSpc>
            </a:pPr>
            <a:r>
              <a:rPr lang="en-US" sz="5562" b="1">
                <a:solidFill>
                  <a:srgbClr val="272D45"/>
                </a:solidFill>
                <a:latin typeface="Arimo Bold"/>
                <a:ea typeface="Arimo Bold"/>
                <a:cs typeface="Arimo Bold"/>
                <a:sym typeface="Arimo Bold"/>
              </a:rPr>
              <a:t>Preprocessing and Modeling Techniques</a:t>
            </a:r>
          </a:p>
        </p:txBody>
      </p:sp>
      <p:sp>
        <p:nvSpPr>
          <p:cNvPr id="7" name="TextBox 7"/>
          <p:cNvSpPr txBox="1"/>
          <p:nvPr/>
        </p:nvSpPr>
        <p:spPr>
          <a:xfrm>
            <a:off x="992238" y="4277718"/>
            <a:ext cx="3544044" cy="449262"/>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Preprocessing Steps</a:t>
            </a:r>
          </a:p>
        </p:txBody>
      </p:sp>
      <p:sp>
        <p:nvSpPr>
          <p:cNvPr id="8" name="TextBox 8"/>
          <p:cNvSpPr txBox="1"/>
          <p:nvPr/>
        </p:nvSpPr>
        <p:spPr>
          <a:xfrm>
            <a:off x="992238" y="5377710"/>
            <a:ext cx="7805886" cy="2807494"/>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Tokenization: Splitting text into individual words or phrases. Stemming and Lemmatization: Reducing words to their root form. Stop Word Removal: Eliminating common words that don't contribute to meaning. Feature Extraction: Converting text into numerical representations that can be processed by the model.</a:t>
            </a:r>
          </a:p>
        </p:txBody>
      </p:sp>
      <p:sp>
        <p:nvSpPr>
          <p:cNvPr id="9" name="TextBox 9"/>
          <p:cNvSpPr txBox="1"/>
          <p:nvPr/>
        </p:nvSpPr>
        <p:spPr>
          <a:xfrm>
            <a:off x="9586392" y="4063405"/>
            <a:ext cx="3769965" cy="877888"/>
          </a:xfrm>
          <a:prstGeom prst="rect">
            <a:avLst/>
          </a:prstGeom>
        </p:spPr>
        <p:txBody>
          <a:bodyPr lIns="0" tIns="0" rIns="0" bIns="0" rtlCol="0" anchor="t">
            <a:spAutoFit/>
          </a:bodyPr>
          <a:lstStyle/>
          <a:p>
            <a:pPr algn="l">
              <a:lnSpc>
                <a:spcPts val="3437"/>
              </a:lnSpc>
            </a:pPr>
            <a:r>
              <a:rPr lang="en-US" sz="2750" b="1">
                <a:solidFill>
                  <a:srgbClr val="272D45"/>
                </a:solidFill>
                <a:latin typeface="Arimo Bold"/>
                <a:ea typeface="Arimo Bold"/>
                <a:cs typeface="Arimo Bold"/>
                <a:sym typeface="Arimo Bold"/>
              </a:rPr>
              <a:t>Machine Learning Model</a:t>
            </a:r>
          </a:p>
        </p:txBody>
      </p:sp>
      <p:sp>
        <p:nvSpPr>
          <p:cNvPr id="10" name="TextBox 10"/>
          <p:cNvSpPr txBox="1"/>
          <p:nvPr/>
        </p:nvSpPr>
        <p:spPr>
          <a:xfrm>
            <a:off x="9586392" y="5377710"/>
            <a:ext cx="7805886" cy="3693319"/>
          </a:xfrm>
          <a:prstGeom prst="rect">
            <a:avLst/>
          </a:prstGeom>
        </p:spPr>
        <p:txBody>
          <a:bodyPr lIns="0" tIns="0" rIns="0" bIns="0" rtlCol="0" anchor="t">
            <a:spAutoFit/>
          </a:bodyPr>
          <a:lstStyle/>
          <a:p>
            <a:pPr algn="l">
              <a:lnSpc>
                <a:spcPts val="3562"/>
              </a:lnSpc>
            </a:pPr>
            <a:r>
              <a:rPr lang="en-US" sz="2187" dirty="0">
                <a:solidFill>
                  <a:srgbClr val="2C3249"/>
                </a:solidFill>
                <a:latin typeface="Martel Sans"/>
                <a:ea typeface="Martel Sans"/>
                <a:cs typeface="Martel Sans"/>
                <a:sym typeface="Martel Sans"/>
              </a:rPr>
              <a:t>We chose a Extra Trees Classifier due to its accuracy and efficiency in handling the given text data. This model calculates the probability of a message being spam or ham based on the presence of certain words or phrases. This model proved effective at capturing the key characteristics of spam messages, such as the presence of certain keywords, unusual lengths, and specific patterns in the 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82C32"/>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8" name="TextBox 8"/>
          <p:cNvSpPr txBox="1"/>
          <p:nvPr/>
        </p:nvSpPr>
        <p:spPr>
          <a:xfrm>
            <a:off x="862905" y="1003846"/>
            <a:ext cx="6163716" cy="927063"/>
          </a:xfrm>
          <a:prstGeom prst="rect">
            <a:avLst/>
          </a:prstGeom>
        </p:spPr>
        <p:txBody>
          <a:bodyPr lIns="0" tIns="0" rIns="0" bIns="0" rtlCol="0" anchor="t">
            <a:spAutoFit/>
          </a:bodyPr>
          <a:lstStyle/>
          <a:p>
            <a:pPr algn="l">
              <a:lnSpc>
                <a:spcPts val="7070"/>
              </a:lnSpc>
            </a:pPr>
            <a:r>
              <a:rPr lang="en-US" sz="5612" b="1">
                <a:solidFill>
                  <a:srgbClr val="FFFFFF"/>
                </a:solidFill>
                <a:latin typeface="Arimo Bold"/>
                <a:ea typeface="Arimo Bold"/>
                <a:cs typeface="Arimo Bold"/>
                <a:sym typeface="Arimo Bold"/>
              </a:rPr>
              <a:t>Models Used</a:t>
            </a:r>
          </a:p>
        </p:txBody>
      </p:sp>
      <p:grpSp>
        <p:nvGrpSpPr>
          <p:cNvPr id="9" name="Group 9"/>
          <p:cNvGrpSpPr/>
          <p:nvPr/>
        </p:nvGrpSpPr>
        <p:grpSpPr>
          <a:xfrm>
            <a:off x="858142" y="2205930"/>
            <a:ext cx="5365998" cy="2937570"/>
            <a:chOff x="0" y="0"/>
            <a:chExt cx="7154663" cy="6567288"/>
          </a:xfrm>
        </p:grpSpPr>
        <p:sp>
          <p:nvSpPr>
            <p:cNvPr id="10" name="Freeform 10"/>
            <p:cNvSpPr/>
            <p:nvPr/>
          </p:nvSpPr>
          <p:spPr>
            <a:xfrm>
              <a:off x="6350" y="6350"/>
              <a:ext cx="7141972" cy="6554597"/>
            </a:xfrm>
            <a:custGeom>
              <a:avLst/>
              <a:gdLst/>
              <a:ahLst/>
              <a:cxnLst/>
              <a:rect l="l" t="t" r="r" b="b"/>
              <a:pathLst>
                <a:path w="7141972" h="6554597">
                  <a:moveTo>
                    <a:pt x="0" y="138049"/>
                  </a:moveTo>
                  <a:cubicBezTo>
                    <a:pt x="0" y="61849"/>
                    <a:pt x="61849" y="0"/>
                    <a:pt x="138049" y="0"/>
                  </a:cubicBezTo>
                  <a:lnTo>
                    <a:pt x="7003923" y="0"/>
                  </a:lnTo>
                  <a:cubicBezTo>
                    <a:pt x="7080123" y="0"/>
                    <a:pt x="7141972" y="61849"/>
                    <a:pt x="7141972" y="138049"/>
                  </a:cubicBezTo>
                  <a:lnTo>
                    <a:pt x="7141972" y="6416548"/>
                  </a:lnTo>
                  <a:cubicBezTo>
                    <a:pt x="7141972" y="6492748"/>
                    <a:pt x="7080123" y="6554597"/>
                    <a:pt x="7003923" y="6554597"/>
                  </a:cubicBezTo>
                  <a:lnTo>
                    <a:pt x="138049" y="6554597"/>
                  </a:lnTo>
                  <a:cubicBezTo>
                    <a:pt x="61849" y="6554597"/>
                    <a:pt x="0" y="6492748"/>
                    <a:pt x="0" y="6416548"/>
                  </a:cubicBezTo>
                  <a:close/>
                </a:path>
              </a:pathLst>
            </a:custGeom>
            <a:solidFill>
              <a:srgbClr val="DFECE9"/>
            </a:solidFill>
          </p:spPr>
        </p:sp>
        <p:sp>
          <p:nvSpPr>
            <p:cNvPr id="11" name="Freeform 11"/>
            <p:cNvSpPr/>
            <p:nvPr/>
          </p:nvSpPr>
          <p:spPr>
            <a:xfrm>
              <a:off x="0" y="0"/>
              <a:ext cx="7154672" cy="6567297"/>
            </a:xfrm>
            <a:custGeom>
              <a:avLst/>
              <a:gdLst/>
              <a:ahLst/>
              <a:cxnLst/>
              <a:rect l="l" t="t" r="r" b="b"/>
              <a:pathLst>
                <a:path w="7154672" h="6567297">
                  <a:moveTo>
                    <a:pt x="0" y="144399"/>
                  </a:moveTo>
                  <a:cubicBezTo>
                    <a:pt x="0" y="64643"/>
                    <a:pt x="64643" y="0"/>
                    <a:pt x="144399" y="0"/>
                  </a:cubicBezTo>
                  <a:lnTo>
                    <a:pt x="7010273" y="0"/>
                  </a:lnTo>
                  <a:lnTo>
                    <a:pt x="7010273" y="6350"/>
                  </a:lnTo>
                  <a:lnTo>
                    <a:pt x="7010273" y="0"/>
                  </a:lnTo>
                  <a:cubicBezTo>
                    <a:pt x="7090029" y="0"/>
                    <a:pt x="7154672" y="64643"/>
                    <a:pt x="7154672" y="144399"/>
                  </a:cubicBezTo>
                  <a:lnTo>
                    <a:pt x="7148322" y="144399"/>
                  </a:lnTo>
                  <a:lnTo>
                    <a:pt x="7154672" y="144399"/>
                  </a:lnTo>
                  <a:lnTo>
                    <a:pt x="7154672" y="6422898"/>
                  </a:lnTo>
                  <a:lnTo>
                    <a:pt x="7148322" y="6422898"/>
                  </a:lnTo>
                  <a:lnTo>
                    <a:pt x="7154672" y="6422898"/>
                  </a:lnTo>
                  <a:cubicBezTo>
                    <a:pt x="7154672" y="6502654"/>
                    <a:pt x="7090029" y="6567297"/>
                    <a:pt x="7010273" y="6567297"/>
                  </a:cubicBezTo>
                  <a:lnTo>
                    <a:pt x="7010273" y="6560947"/>
                  </a:lnTo>
                  <a:lnTo>
                    <a:pt x="7010273" y="6567297"/>
                  </a:lnTo>
                  <a:lnTo>
                    <a:pt x="144399" y="6567297"/>
                  </a:lnTo>
                  <a:lnTo>
                    <a:pt x="144399" y="6560947"/>
                  </a:lnTo>
                  <a:lnTo>
                    <a:pt x="144399" y="6567297"/>
                  </a:lnTo>
                  <a:cubicBezTo>
                    <a:pt x="64643" y="6567297"/>
                    <a:pt x="0" y="6502654"/>
                    <a:pt x="0" y="6422898"/>
                  </a:cubicBezTo>
                  <a:lnTo>
                    <a:pt x="0" y="144399"/>
                  </a:lnTo>
                  <a:lnTo>
                    <a:pt x="6350" y="144399"/>
                  </a:lnTo>
                  <a:lnTo>
                    <a:pt x="0" y="144399"/>
                  </a:lnTo>
                  <a:moveTo>
                    <a:pt x="12700" y="144399"/>
                  </a:moveTo>
                  <a:lnTo>
                    <a:pt x="12700" y="6422898"/>
                  </a:lnTo>
                  <a:lnTo>
                    <a:pt x="6350" y="6422898"/>
                  </a:lnTo>
                  <a:lnTo>
                    <a:pt x="12700" y="6422898"/>
                  </a:lnTo>
                  <a:cubicBezTo>
                    <a:pt x="12700" y="6495669"/>
                    <a:pt x="71628" y="6554597"/>
                    <a:pt x="144399" y="6554597"/>
                  </a:cubicBezTo>
                  <a:lnTo>
                    <a:pt x="7010273" y="6554597"/>
                  </a:lnTo>
                  <a:cubicBezTo>
                    <a:pt x="7083044" y="6554597"/>
                    <a:pt x="7141972" y="6495669"/>
                    <a:pt x="7141972" y="6422898"/>
                  </a:cubicBezTo>
                  <a:lnTo>
                    <a:pt x="7141972" y="144399"/>
                  </a:lnTo>
                  <a:cubicBezTo>
                    <a:pt x="7141972" y="71628"/>
                    <a:pt x="7083044" y="12700"/>
                    <a:pt x="7010273" y="12700"/>
                  </a:cubicBezTo>
                  <a:lnTo>
                    <a:pt x="144399" y="12700"/>
                  </a:lnTo>
                  <a:lnTo>
                    <a:pt x="144399" y="6350"/>
                  </a:lnTo>
                  <a:lnTo>
                    <a:pt x="144399" y="12700"/>
                  </a:lnTo>
                  <a:cubicBezTo>
                    <a:pt x="71628" y="12700"/>
                    <a:pt x="12700" y="71628"/>
                    <a:pt x="12700" y="144399"/>
                  </a:cubicBezTo>
                  <a:close/>
                </a:path>
              </a:pathLst>
            </a:custGeom>
            <a:solidFill>
              <a:srgbClr val="C5D2CF"/>
            </a:solidFill>
          </p:spPr>
        </p:sp>
      </p:grpSp>
      <p:sp>
        <p:nvSpPr>
          <p:cNvPr id="12" name="TextBox 12"/>
          <p:cNvSpPr txBox="1"/>
          <p:nvPr/>
        </p:nvSpPr>
        <p:spPr>
          <a:xfrm>
            <a:off x="1121271" y="2400003"/>
            <a:ext cx="4844504" cy="1878092"/>
          </a:xfrm>
          <a:prstGeom prst="rect">
            <a:avLst/>
          </a:prstGeom>
        </p:spPr>
        <p:txBody>
          <a:bodyPr lIns="0" tIns="0" rIns="0" bIns="0" rtlCol="0" anchor="t">
            <a:spAutoFit/>
          </a:bodyPr>
          <a:lstStyle/>
          <a:p>
            <a:pPr algn="l">
              <a:lnSpc>
                <a:spcPts val="3061"/>
              </a:lnSpc>
            </a:pPr>
            <a:r>
              <a:rPr lang="en-US" sz="1937" b="1">
                <a:solidFill>
                  <a:srgbClr val="000000"/>
                </a:solidFill>
                <a:latin typeface="Martel Sans Bold"/>
                <a:ea typeface="Martel Sans Bold"/>
                <a:cs typeface="Martel Sans Bold"/>
                <a:sym typeface="Martel Sans Bold"/>
              </a:rPr>
              <a:t>Random Forest</a:t>
            </a:r>
          </a:p>
          <a:p>
            <a:pPr algn="l">
              <a:lnSpc>
                <a:spcPts val="3062"/>
              </a:lnSpc>
            </a:pPr>
            <a:endParaRPr lang="en-US" sz="1937" b="1">
              <a:solidFill>
                <a:srgbClr val="000000"/>
              </a:solidFill>
              <a:latin typeface="Martel Sans Bold"/>
              <a:ea typeface="Martel Sans Bold"/>
              <a:cs typeface="Martel Sans Bold"/>
              <a:sym typeface="Martel Sans Bold"/>
            </a:endParaRPr>
          </a:p>
          <a:p>
            <a:pPr algn="l">
              <a:lnSpc>
                <a:spcPts val="3062"/>
              </a:lnSpc>
            </a:pPr>
            <a:r>
              <a:rPr lang="en-US" sz="1937">
                <a:solidFill>
                  <a:srgbClr val="000000"/>
                </a:solidFill>
                <a:latin typeface="Martel Sans"/>
                <a:ea typeface="Martel Sans"/>
                <a:cs typeface="Martel Sans"/>
                <a:sym typeface="Martel Sans"/>
              </a:rPr>
              <a:t>A robust ensemble learning method that combines multiple decision trees to improve classification accuracy.</a:t>
            </a:r>
          </a:p>
        </p:txBody>
      </p:sp>
      <p:grpSp>
        <p:nvGrpSpPr>
          <p:cNvPr id="13" name="Group 13"/>
          <p:cNvGrpSpPr/>
          <p:nvPr/>
        </p:nvGrpSpPr>
        <p:grpSpPr>
          <a:xfrm>
            <a:off x="6461076" y="2205930"/>
            <a:ext cx="5105250" cy="2934733"/>
            <a:chOff x="0" y="0"/>
            <a:chExt cx="7154663" cy="6567288"/>
          </a:xfrm>
        </p:grpSpPr>
        <p:sp>
          <p:nvSpPr>
            <p:cNvPr id="14" name="Freeform 14"/>
            <p:cNvSpPr/>
            <p:nvPr/>
          </p:nvSpPr>
          <p:spPr>
            <a:xfrm>
              <a:off x="6350" y="6350"/>
              <a:ext cx="7141972" cy="6554597"/>
            </a:xfrm>
            <a:custGeom>
              <a:avLst/>
              <a:gdLst/>
              <a:ahLst/>
              <a:cxnLst/>
              <a:rect l="l" t="t" r="r" b="b"/>
              <a:pathLst>
                <a:path w="7141972" h="6554597">
                  <a:moveTo>
                    <a:pt x="0" y="138049"/>
                  </a:moveTo>
                  <a:cubicBezTo>
                    <a:pt x="0" y="61849"/>
                    <a:pt x="61849" y="0"/>
                    <a:pt x="138049" y="0"/>
                  </a:cubicBezTo>
                  <a:lnTo>
                    <a:pt x="7003923" y="0"/>
                  </a:lnTo>
                  <a:cubicBezTo>
                    <a:pt x="7080123" y="0"/>
                    <a:pt x="7141972" y="61849"/>
                    <a:pt x="7141972" y="138049"/>
                  </a:cubicBezTo>
                  <a:lnTo>
                    <a:pt x="7141972" y="6416548"/>
                  </a:lnTo>
                  <a:cubicBezTo>
                    <a:pt x="7141972" y="6492748"/>
                    <a:pt x="7080123" y="6554597"/>
                    <a:pt x="7003923" y="6554597"/>
                  </a:cubicBezTo>
                  <a:lnTo>
                    <a:pt x="138049" y="6554597"/>
                  </a:lnTo>
                  <a:cubicBezTo>
                    <a:pt x="61849" y="6554597"/>
                    <a:pt x="0" y="6492748"/>
                    <a:pt x="0" y="6416548"/>
                  </a:cubicBezTo>
                  <a:close/>
                </a:path>
              </a:pathLst>
            </a:custGeom>
            <a:solidFill>
              <a:srgbClr val="DFECE9"/>
            </a:solidFill>
          </p:spPr>
        </p:sp>
        <p:sp>
          <p:nvSpPr>
            <p:cNvPr id="15" name="Freeform 15"/>
            <p:cNvSpPr/>
            <p:nvPr/>
          </p:nvSpPr>
          <p:spPr>
            <a:xfrm>
              <a:off x="0" y="0"/>
              <a:ext cx="7154672" cy="6567297"/>
            </a:xfrm>
            <a:custGeom>
              <a:avLst/>
              <a:gdLst/>
              <a:ahLst/>
              <a:cxnLst/>
              <a:rect l="l" t="t" r="r" b="b"/>
              <a:pathLst>
                <a:path w="7154672" h="6567297">
                  <a:moveTo>
                    <a:pt x="0" y="144399"/>
                  </a:moveTo>
                  <a:cubicBezTo>
                    <a:pt x="0" y="64643"/>
                    <a:pt x="64643" y="0"/>
                    <a:pt x="144399" y="0"/>
                  </a:cubicBezTo>
                  <a:lnTo>
                    <a:pt x="7010273" y="0"/>
                  </a:lnTo>
                  <a:lnTo>
                    <a:pt x="7010273" y="6350"/>
                  </a:lnTo>
                  <a:lnTo>
                    <a:pt x="7010273" y="0"/>
                  </a:lnTo>
                  <a:cubicBezTo>
                    <a:pt x="7090029" y="0"/>
                    <a:pt x="7154672" y="64643"/>
                    <a:pt x="7154672" y="144399"/>
                  </a:cubicBezTo>
                  <a:lnTo>
                    <a:pt x="7148322" y="144399"/>
                  </a:lnTo>
                  <a:lnTo>
                    <a:pt x="7154672" y="144399"/>
                  </a:lnTo>
                  <a:lnTo>
                    <a:pt x="7154672" y="6422898"/>
                  </a:lnTo>
                  <a:lnTo>
                    <a:pt x="7148322" y="6422898"/>
                  </a:lnTo>
                  <a:lnTo>
                    <a:pt x="7154672" y="6422898"/>
                  </a:lnTo>
                  <a:cubicBezTo>
                    <a:pt x="7154672" y="6502654"/>
                    <a:pt x="7090029" y="6567297"/>
                    <a:pt x="7010273" y="6567297"/>
                  </a:cubicBezTo>
                  <a:lnTo>
                    <a:pt x="7010273" y="6560947"/>
                  </a:lnTo>
                  <a:lnTo>
                    <a:pt x="7010273" y="6567297"/>
                  </a:lnTo>
                  <a:lnTo>
                    <a:pt x="144399" y="6567297"/>
                  </a:lnTo>
                  <a:lnTo>
                    <a:pt x="144399" y="6560947"/>
                  </a:lnTo>
                  <a:lnTo>
                    <a:pt x="144399" y="6567297"/>
                  </a:lnTo>
                  <a:cubicBezTo>
                    <a:pt x="64643" y="6567297"/>
                    <a:pt x="0" y="6502654"/>
                    <a:pt x="0" y="6422898"/>
                  </a:cubicBezTo>
                  <a:lnTo>
                    <a:pt x="0" y="144399"/>
                  </a:lnTo>
                  <a:lnTo>
                    <a:pt x="6350" y="144399"/>
                  </a:lnTo>
                  <a:lnTo>
                    <a:pt x="0" y="144399"/>
                  </a:lnTo>
                  <a:moveTo>
                    <a:pt x="12700" y="144399"/>
                  </a:moveTo>
                  <a:lnTo>
                    <a:pt x="12700" y="6422898"/>
                  </a:lnTo>
                  <a:lnTo>
                    <a:pt x="6350" y="6422898"/>
                  </a:lnTo>
                  <a:lnTo>
                    <a:pt x="12700" y="6422898"/>
                  </a:lnTo>
                  <a:cubicBezTo>
                    <a:pt x="12700" y="6495669"/>
                    <a:pt x="71628" y="6554597"/>
                    <a:pt x="144399" y="6554597"/>
                  </a:cubicBezTo>
                  <a:lnTo>
                    <a:pt x="7010273" y="6554597"/>
                  </a:lnTo>
                  <a:cubicBezTo>
                    <a:pt x="7083044" y="6554597"/>
                    <a:pt x="7141972" y="6495669"/>
                    <a:pt x="7141972" y="6422898"/>
                  </a:cubicBezTo>
                  <a:lnTo>
                    <a:pt x="7141972" y="144399"/>
                  </a:lnTo>
                  <a:cubicBezTo>
                    <a:pt x="7141972" y="71628"/>
                    <a:pt x="7083044" y="12700"/>
                    <a:pt x="7010273" y="12700"/>
                  </a:cubicBezTo>
                  <a:lnTo>
                    <a:pt x="144399" y="12700"/>
                  </a:lnTo>
                  <a:lnTo>
                    <a:pt x="144399" y="6350"/>
                  </a:lnTo>
                  <a:lnTo>
                    <a:pt x="144399" y="12700"/>
                  </a:lnTo>
                  <a:cubicBezTo>
                    <a:pt x="71628" y="12700"/>
                    <a:pt x="12700" y="71628"/>
                    <a:pt x="12700" y="144399"/>
                  </a:cubicBezTo>
                  <a:close/>
                </a:path>
              </a:pathLst>
            </a:custGeom>
            <a:solidFill>
              <a:srgbClr val="C5D2CF"/>
            </a:solidFill>
          </p:spPr>
        </p:sp>
      </p:grpSp>
      <p:sp>
        <p:nvSpPr>
          <p:cNvPr id="16" name="TextBox 16"/>
          <p:cNvSpPr txBox="1"/>
          <p:nvPr/>
        </p:nvSpPr>
        <p:spPr>
          <a:xfrm>
            <a:off x="6721822" y="2390478"/>
            <a:ext cx="4844504" cy="415710"/>
          </a:xfrm>
          <a:prstGeom prst="rect">
            <a:avLst/>
          </a:prstGeom>
        </p:spPr>
        <p:txBody>
          <a:bodyPr lIns="0" tIns="0" rIns="0" bIns="0" rtlCol="0" anchor="t">
            <a:spAutoFit/>
          </a:bodyPr>
          <a:lstStyle/>
          <a:p>
            <a:pPr algn="l">
              <a:lnSpc>
                <a:spcPts val="3536"/>
              </a:lnSpc>
            </a:pPr>
            <a:r>
              <a:rPr lang="en-US" sz="2237" b="1">
                <a:solidFill>
                  <a:srgbClr val="000000"/>
                </a:solidFill>
                <a:latin typeface="Martel Sans Bold"/>
                <a:ea typeface="Martel Sans Bold"/>
                <a:cs typeface="Martel Sans Bold"/>
                <a:sym typeface="Martel Sans Bold"/>
              </a:rPr>
              <a:t>Logistic Regression</a:t>
            </a:r>
          </a:p>
        </p:txBody>
      </p:sp>
      <p:sp>
        <p:nvSpPr>
          <p:cNvPr id="17" name="TextBox 17"/>
          <p:cNvSpPr txBox="1"/>
          <p:nvPr/>
        </p:nvSpPr>
        <p:spPr>
          <a:xfrm>
            <a:off x="6721823" y="3060316"/>
            <a:ext cx="4555777" cy="1192634"/>
          </a:xfrm>
          <a:prstGeom prst="rect">
            <a:avLst/>
          </a:prstGeom>
        </p:spPr>
        <p:txBody>
          <a:bodyPr wrap="square" lIns="0" tIns="0" rIns="0" bIns="0" rtlCol="0" anchor="t">
            <a:spAutoFit/>
          </a:bodyPr>
          <a:lstStyle/>
          <a:p>
            <a:pPr algn="l">
              <a:lnSpc>
                <a:spcPts val="3062"/>
              </a:lnSpc>
            </a:pPr>
            <a:r>
              <a:rPr lang="en-US" sz="1937" dirty="0">
                <a:solidFill>
                  <a:srgbClr val="000000"/>
                </a:solidFill>
                <a:latin typeface="Martel Sans"/>
                <a:ea typeface="Martel Sans"/>
                <a:cs typeface="Martel Sans"/>
                <a:sym typeface="Martel Sans"/>
              </a:rPr>
              <a:t>A simple yet effective algorithm for binary classification problems, used as a baseline model.</a:t>
            </a:r>
          </a:p>
        </p:txBody>
      </p:sp>
      <p:grpSp>
        <p:nvGrpSpPr>
          <p:cNvPr id="25" name="Group 25"/>
          <p:cNvGrpSpPr/>
          <p:nvPr/>
        </p:nvGrpSpPr>
        <p:grpSpPr>
          <a:xfrm>
            <a:off x="833068" y="5896968"/>
            <a:ext cx="10932952" cy="2599332"/>
            <a:chOff x="-59218" y="-4676"/>
            <a:chExt cx="22154806" cy="2475207"/>
          </a:xfrm>
        </p:grpSpPr>
        <p:sp>
          <p:nvSpPr>
            <p:cNvPr id="26" name="Freeform 26"/>
            <p:cNvSpPr/>
            <p:nvPr/>
          </p:nvSpPr>
          <p:spPr>
            <a:xfrm>
              <a:off x="-59218" y="-4676"/>
              <a:ext cx="22082888" cy="2457831"/>
            </a:xfrm>
            <a:custGeom>
              <a:avLst/>
              <a:gdLst/>
              <a:ahLst/>
              <a:cxnLst/>
              <a:rect l="l" t="t" r="r" b="b"/>
              <a:pathLst>
                <a:path w="22082888" h="2457831">
                  <a:moveTo>
                    <a:pt x="0" y="138049"/>
                  </a:moveTo>
                  <a:cubicBezTo>
                    <a:pt x="0" y="61849"/>
                    <a:pt x="62103" y="0"/>
                    <a:pt x="138684" y="0"/>
                  </a:cubicBezTo>
                  <a:lnTo>
                    <a:pt x="21944203" y="0"/>
                  </a:lnTo>
                  <a:cubicBezTo>
                    <a:pt x="22020785" y="0"/>
                    <a:pt x="22082888" y="61849"/>
                    <a:pt x="22082888" y="138049"/>
                  </a:cubicBezTo>
                  <a:lnTo>
                    <a:pt x="22082888" y="2319782"/>
                  </a:lnTo>
                  <a:cubicBezTo>
                    <a:pt x="22082888" y="2395982"/>
                    <a:pt x="22020785" y="2457831"/>
                    <a:pt x="21944203" y="2457831"/>
                  </a:cubicBezTo>
                  <a:lnTo>
                    <a:pt x="138684" y="2457831"/>
                  </a:lnTo>
                  <a:cubicBezTo>
                    <a:pt x="62103" y="2457831"/>
                    <a:pt x="0" y="2395982"/>
                    <a:pt x="0" y="2319782"/>
                  </a:cubicBezTo>
                  <a:close/>
                </a:path>
              </a:pathLst>
            </a:custGeom>
            <a:solidFill>
              <a:srgbClr val="DFECE9"/>
            </a:solidFill>
          </p:spPr>
        </p:sp>
        <p:sp>
          <p:nvSpPr>
            <p:cNvPr id="27" name="Freeform 27"/>
            <p:cNvSpPr/>
            <p:nvPr/>
          </p:nvSpPr>
          <p:spPr>
            <a:xfrm>
              <a:off x="0" y="0"/>
              <a:ext cx="22095588" cy="2470531"/>
            </a:xfrm>
            <a:custGeom>
              <a:avLst/>
              <a:gdLst/>
              <a:ahLst/>
              <a:cxnLst/>
              <a:rect l="l" t="t" r="r" b="b"/>
              <a:pathLst>
                <a:path w="22095588" h="2470531">
                  <a:moveTo>
                    <a:pt x="0" y="144399"/>
                  </a:moveTo>
                  <a:cubicBezTo>
                    <a:pt x="0" y="64643"/>
                    <a:pt x="65024" y="0"/>
                    <a:pt x="145034" y="0"/>
                  </a:cubicBezTo>
                  <a:lnTo>
                    <a:pt x="21950553" y="0"/>
                  </a:lnTo>
                  <a:lnTo>
                    <a:pt x="21950553" y="6350"/>
                  </a:lnTo>
                  <a:lnTo>
                    <a:pt x="21950553" y="0"/>
                  </a:lnTo>
                  <a:cubicBezTo>
                    <a:pt x="22030691" y="0"/>
                    <a:pt x="22095588" y="64643"/>
                    <a:pt x="22095588" y="144399"/>
                  </a:cubicBezTo>
                  <a:lnTo>
                    <a:pt x="22089238" y="144399"/>
                  </a:lnTo>
                  <a:lnTo>
                    <a:pt x="22095588" y="144399"/>
                  </a:lnTo>
                  <a:lnTo>
                    <a:pt x="22095588" y="2326132"/>
                  </a:lnTo>
                  <a:lnTo>
                    <a:pt x="22089238" y="2326132"/>
                  </a:lnTo>
                  <a:lnTo>
                    <a:pt x="22095588" y="2326132"/>
                  </a:lnTo>
                  <a:cubicBezTo>
                    <a:pt x="22095588" y="2405888"/>
                    <a:pt x="22030564" y="2470531"/>
                    <a:pt x="21950553" y="2470531"/>
                  </a:cubicBezTo>
                  <a:lnTo>
                    <a:pt x="21950553" y="2464181"/>
                  </a:lnTo>
                  <a:lnTo>
                    <a:pt x="21950553" y="2470531"/>
                  </a:lnTo>
                  <a:lnTo>
                    <a:pt x="145034" y="2470531"/>
                  </a:lnTo>
                  <a:lnTo>
                    <a:pt x="145034" y="2464181"/>
                  </a:lnTo>
                  <a:lnTo>
                    <a:pt x="145034" y="2470531"/>
                  </a:lnTo>
                  <a:cubicBezTo>
                    <a:pt x="65024" y="2470531"/>
                    <a:pt x="0" y="2405888"/>
                    <a:pt x="0" y="2326132"/>
                  </a:cubicBezTo>
                  <a:lnTo>
                    <a:pt x="0" y="144399"/>
                  </a:lnTo>
                  <a:lnTo>
                    <a:pt x="6350" y="144399"/>
                  </a:lnTo>
                  <a:lnTo>
                    <a:pt x="0" y="144399"/>
                  </a:lnTo>
                  <a:moveTo>
                    <a:pt x="12700" y="144399"/>
                  </a:moveTo>
                  <a:lnTo>
                    <a:pt x="12700" y="2326132"/>
                  </a:lnTo>
                  <a:lnTo>
                    <a:pt x="6350" y="2326132"/>
                  </a:lnTo>
                  <a:lnTo>
                    <a:pt x="12700" y="2326132"/>
                  </a:lnTo>
                  <a:cubicBezTo>
                    <a:pt x="12700" y="2398903"/>
                    <a:pt x="71882" y="2457831"/>
                    <a:pt x="145034" y="2457831"/>
                  </a:cubicBezTo>
                  <a:lnTo>
                    <a:pt x="21950553" y="2457831"/>
                  </a:lnTo>
                  <a:cubicBezTo>
                    <a:pt x="22023705" y="2457831"/>
                    <a:pt x="22082888" y="2398776"/>
                    <a:pt x="22082888" y="2326132"/>
                  </a:cubicBezTo>
                  <a:lnTo>
                    <a:pt x="22082888" y="144399"/>
                  </a:lnTo>
                  <a:cubicBezTo>
                    <a:pt x="22082888" y="71628"/>
                    <a:pt x="22023705" y="12700"/>
                    <a:pt x="21950553" y="12700"/>
                  </a:cubicBezTo>
                  <a:lnTo>
                    <a:pt x="145034" y="12700"/>
                  </a:lnTo>
                  <a:lnTo>
                    <a:pt x="145034" y="6350"/>
                  </a:lnTo>
                  <a:lnTo>
                    <a:pt x="145034" y="12700"/>
                  </a:lnTo>
                  <a:cubicBezTo>
                    <a:pt x="71882" y="12700"/>
                    <a:pt x="12700" y="71755"/>
                    <a:pt x="12700" y="144399"/>
                  </a:cubicBezTo>
                  <a:close/>
                </a:path>
              </a:pathLst>
            </a:custGeom>
            <a:solidFill>
              <a:srgbClr val="C5D2CF"/>
            </a:solidFill>
          </p:spPr>
        </p:sp>
      </p:grpSp>
      <p:sp>
        <p:nvSpPr>
          <p:cNvPr id="30" name="TextBox 29">
            <a:extLst>
              <a:ext uri="{FF2B5EF4-FFF2-40B4-BE49-F238E27FC236}">
                <a16:creationId xmlns:a16="http://schemas.microsoft.com/office/drawing/2014/main" id="{38FC3750-A94C-040C-1181-4438A306A096}"/>
              </a:ext>
            </a:extLst>
          </p:cNvPr>
          <p:cNvSpPr txBox="1"/>
          <p:nvPr/>
        </p:nvSpPr>
        <p:spPr>
          <a:xfrm>
            <a:off x="990600" y="6057901"/>
            <a:ext cx="10210800" cy="1200329"/>
          </a:xfrm>
          <a:prstGeom prst="rect">
            <a:avLst/>
          </a:prstGeom>
          <a:noFill/>
        </p:spPr>
        <p:txBody>
          <a:bodyPr wrap="square" rtlCol="0">
            <a:spAutoFit/>
          </a:bodyPr>
          <a:lstStyle/>
          <a:p>
            <a:r>
              <a:rPr lang="en-US" sz="2400" b="1" dirty="0"/>
              <a:t>Extra Trees Classifier:</a:t>
            </a:r>
            <a:endParaRPr lang="en-US" sz="2400" dirty="0"/>
          </a:p>
          <a:p>
            <a:r>
              <a:rPr lang="en-US" sz="2400" dirty="0"/>
              <a:t>A highly accurate ensemble method that builds multiple randomized decision trees and averages their outputs.</a:t>
            </a:r>
          </a:p>
        </p:txBody>
      </p:sp>
      <p:pic>
        <p:nvPicPr>
          <p:cNvPr id="35" name="Picture 34">
            <a:extLst>
              <a:ext uri="{FF2B5EF4-FFF2-40B4-BE49-F238E27FC236}">
                <a16:creationId xmlns:a16="http://schemas.microsoft.com/office/drawing/2014/main" id="{96E69925-AA0F-64D7-53C7-08B926832D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23834" y="2205930"/>
            <a:ext cx="6011766" cy="62903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1"/>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sp>
        <p:nvSpPr>
          <p:cNvPr id="8" name="Freeform 8" descr="preencoded.png"/>
          <p:cNvSpPr/>
          <p:nvPr/>
        </p:nvSpPr>
        <p:spPr>
          <a:xfrm>
            <a:off x="11784509" y="3413522"/>
            <a:ext cx="6148983" cy="3715345"/>
          </a:xfrm>
          <a:custGeom>
            <a:avLst/>
            <a:gdLst/>
            <a:ahLst/>
            <a:cxnLst/>
            <a:rect l="l" t="t" r="r" b="b"/>
            <a:pathLst>
              <a:path w="6148983" h="3715345">
                <a:moveTo>
                  <a:pt x="0" y="0"/>
                </a:moveTo>
                <a:lnTo>
                  <a:pt x="6148982" y="0"/>
                </a:lnTo>
                <a:lnTo>
                  <a:pt x="6148982" y="3715345"/>
                </a:lnTo>
                <a:lnTo>
                  <a:pt x="0" y="3715345"/>
                </a:lnTo>
                <a:lnTo>
                  <a:pt x="0" y="0"/>
                </a:lnTo>
                <a:close/>
              </a:path>
            </a:pathLst>
          </a:custGeom>
          <a:blipFill>
            <a:blip r:embed="rId6"/>
            <a:stretch>
              <a:fillRect l="-3691" r="-3691"/>
            </a:stretch>
          </a:blipFill>
        </p:spPr>
      </p:sp>
      <p:sp>
        <p:nvSpPr>
          <p:cNvPr id="9" name="TextBox 9"/>
          <p:cNvSpPr txBox="1"/>
          <p:nvPr/>
        </p:nvSpPr>
        <p:spPr>
          <a:xfrm>
            <a:off x="1028700" y="998785"/>
            <a:ext cx="7333358" cy="1288733"/>
          </a:xfrm>
          <a:prstGeom prst="rect">
            <a:avLst/>
          </a:prstGeom>
        </p:spPr>
        <p:txBody>
          <a:bodyPr lIns="0" tIns="0" rIns="0" bIns="0" rtlCol="0" anchor="t">
            <a:spAutoFit/>
          </a:bodyPr>
          <a:lstStyle/>
          <a:p>
            <a:pPr algn="l">
              <a:lnSpc>
                <a:spcPts val="5062"/>
              </a:lnSpc>
            </a:pPr>
            <a:r>
              <a:rPr lang="en-US" sz="4049" b="1">
                <a:solidFill>
                  <a:srgbClr val="272D45"/>
                </a:solidFill>
                <a:latin typeface="Arimo Bold"/>
                <a:ea typeface="Arimo Bold"/>
                <a:cs typeface="Arimo Bold"/>
                <a:sym typeface="Arimo Bold"/>
              </a:rPr>
              <a:t>Best Performing Model: Extra Trees Classifier</a:t>
            </a:r>
          </a:p>
        </p:txBody>
      </p:sp>
      <p:sp>
        <p:nvSpPr>
          <p:cNvPr id="10" name="TextBox 10"/>
          <p:cNvSpPr txBox="1"/>
          <p:nvPr/>
        </p:nvSpPr>
        <p:spPr>
          <a:xfrm>
            <a:off x="992238" y="2594222"/>
            <a:ext cx="9445526"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2C3249"/>
                </a:solidFill>
                <a:latin typeface="Martel Sans Bold"/>
                <a:ea typeface="Martel Sans Bold"/>
                <a:cs typeface="Martel Sans Bold"/>
                <a:sym typeface="Martel Sans Bold"/>
              </a:rPr>
              <a:t>Accuracy:</a:t>
            </a:r>
            <a:r>
              <a:rPr lang="en-US" sz="2187">
                <a:solidFill>
                  <a:srgbClr val="2C3249"/>
                </a:solidFill>
                <a:latin typeface="Martel Sans"/>
                <a:ea typeface="Martel Sans"/>
                <a:cs typeface="Martel Sans"/>
                <a:sym typeface="Martel Sans"/>
              </a:rPr>
              <a:t> 98.16%</a:t>
            </a:r>
          </a:p>
        </p:txBody>
      </p:sp>
      <p:sp>
        <p:nvSpPr>
          <p:cNvPr id="11" name="TextBox 11"/>
          <p:cNvSpPr txBox="1"/>
          <p:nvPr/>
        </p:nvSpPr>
        <p:spPr>
          <a:xfrm>
            <a:off x="992238" y="3146971"/>
            <a:ext cx="9445526"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2C3249"/>
                </a:solidFill>
                <a:latin typeface="Martel Sans Bold"/>
                <a:ea typeface="Martel Sans Bold"/>
                <a:cs typeface="Martel Sans Bold"/>
                <a:sym typeface="Martel Sans Bold"/>
              </a:rPr>
              <a:t>Precision:</a:t>
            </a:r>
            <a:r>
              <a:rPr lang="en-US" sz="2187">
                <a:solidFill>
                  <a:srgbClr val="2C3249"/>
                </a:solidFill>
                <a:latin typeface="Martel Sans"/>
                <a:ea typeface="Martel Sans"/>
                <a:cs typeface="Martel Sans"/>
                <a:sym typeface="Martel Sans"/>
              </a:rPr>
              <a:t> 1</a:t>
            </a:r>
          </a:p>
        </p:txBody>
      </p:sp>
      <p:sp>
        <p:nvSpPr>
          <p:cNvPr id="12" name="TextBox 12"/>
          <p:cNvSpPr txBox="1"/>
          <p:nvPr/>
        </p:nvSpPr>
        <p:spPr>
          <a:xfrm>
            <a:off x="992238" y="3699719"/>
            <a:ext cx="9445526"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2C3249"/>
                </a:solidFill>
                <a:latin typeface="Martel Sans Bold"/>
                <a:ea typeface="Martel Sans Bold"/>
                <a:cs typeface="Martel Sans Bold"/>
                <a:sym typeface="Martel Sans Bold"/>
              </a:rPr>
              <a:t>Recall:</a:t>
            </a:r>
            <a:r>
              <a:rPr lang="en-US" sz="2187">
                <a:solidFill>
                  <a:srgbClr val="2C3249"/>
                </a:solidFill>
                <a:latin typeface="Martel Sans"/>
                <a:ea typeface="Martel Sans"/>
                <a:cs typeface="Martel Sans"/>
                <a:sym typeface="Martel Sans"/>
              </a:rPr>
              <a:t> 96%</a:t>
            </a:r>
          </a:p>
        </p:txBody>
      </p:sp>
      <p:sp>
        <p:nvSpPr>
          <p:cNvPr id="13" name="TextBox 13"/>
          <p:cNvSpPr txBox="1"/>
          <p:nvPr/>
        </p:nvSpPr>
        <p:spPr>
          <a:xfrm>
            <a:off x="992238" y="4252466"/>
            <a:ext cx="9445526"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2C3249"/>
                </a:solidFill>
                <a:latin typeface="Martel Sans Bold"/>
                <a:ea typeface="Martel Sans Bold"/>
                <a:cs typeface="Martel Sans Bold"/>
                <a:sym typeface="Martel Sans Bold"/>
              </a:rPr>
              <a:t>F1-Score:</a:t>
            </a:r>
            <a:r>
              <a:rPr lang="en-US" sz="2187">
                <a:solidFill>
                  <a:srgbClr val="2C3249"/>
                </a:solidFill>
                <a:latin typeface="Martel Sans"/>
                <a:ea typeface="Martel Sans"/>
                <a:cs typeface="Martel Sans"/>
                <a:sym typeface="Martel Sans"/>
              </a:rPr>
              <a:t> 97.95%</a:t>
            </a:r>
          </a:p>
        </p:txBody>
      </p:sp>
      <p:grpSp>
        <p:nvGrpSpPr>
          <p:cNvPr id="14" name="Group 14"/>
          <p:cNvGrpSpPr/>
          <p:nvPr/>
        </p:nvGrpSpPr>
        <p:grpSpPr>
          <a:xfrm>
            <a:off x="1028700" y="6026200"/>
            <a:ext cx="9455051" cy="3232100"/>
            <a:chOff x="0" y="0"/>
            <a:chExt cx="12606735" cy="4309467"/>
          </a:xfrm>
        </p:grpSpPr>
        <p:sp>
          <p:nvSpPr>
            <p:cNvPr id="15" name="Freeform 15"/>
            <p:cNvSpPr/>
            <p:nvPr/>
          </p:nvSpPr>
          <p:spPr>
            <a:xfrm>
              <a:off x="6350" y="6350"/>
              <a:ext cx="12594082" cy="4296791"/>
            </a:xfrm>
            <a:custGeom>
              <a:avLst/>
              <a:gdLst/>
              <a:ahLst/>
              <a:cxnLst/>
              <a:rect l="l" t="t" r="r" b="b"/>
              <a:pathLst>
                <a:path w="12594082" h="4296791">
                  <a:moveTo>
                    <a:pt x="0" y="158750"/>
                  </a:moveTo>
                  <a:cubicBezTo>
                    <a:pt x="0" y="71120"/>
                    <a:pt x="71247" y="0"/>
                    <a:pt x="159131" y="0"/>
                  </a:cubicBezTo>
                  <a:lnTo>
                    <a:pt x="12434951" y="0"/>
                  </a:lnTo>
                  <a:cubicBezTo>
                    <a:pt x="12522835" y="0"/>
                    <a:pt x="12594082" y="71120"/>
                    <a:pt x="12594082" y="158750"/>
                  </a:cubicBezTo>
                  <a:lnTo>
                    <a:pt x="12594082" y="4138041"/>
                  </a:lnTo>
                  <a:cubicBezTo>
                    <a:pt x="12594082" y="4225671"/>
                    <a:pt x="12522835" y="4296791"/>
                    <a:pt x="12434951" y="4296791"/>
                  </a:cubicBezTo>
                  <a:lnTo>
                    <a:pt x="159131" y="4296791"/>
                  </a:lnTo>
                  <a:cubicBezTo>
                    <a:pt x="71247" y="4296791"/>
                    <a:pt x="0" y="4225671"/>
                    <a:pt x="0" y="4138041"/>
                  </a:cubicBezTo>
                  <a:close/>
                </a:path>
              </a:pathLst>
            </a:custGeom>
            <a:solidFill>
              <a:srgbClr val="DFECE9"/>
            </a:solidFill>
          </p:spPr>
        </p:sp>
        <p:sp>
          <p:nvSpPr>
            <p:cNvPr id="16" name="Freeform 16"/>
            <p:cNvSpPr/>
            <p:nvPr/>
          </p:nvSpPr>
          <p:spPr>
            <a:xfrm>
              <a:off x="0" y="0"/>
              <a:ext cx="12606782" cy="4309491"/>
            </a:xfrm>
            <a:custGeom>
              <a:avLst/>
              <a:gdLst/>
              <a:ahLst/>
              <a:cxnLst/>
              <a:rect l="l" t="t" r="r" b="b"/>
              <a:pathLst>
                <a:path w="12606782" h="4309491">
                  <a:moveTo>
                    <a:pt x="0" y="165100"/>
                  </a:moveTo>
                  <a:cubicBezTo>
                    <a:pt x="0" y="73914"/>
                    <a:pt x="74041" y="0"/>
                    <a:pt x="165481" y="0"/>
                  </a:cubicBezTo>
                  <a:lnTo>
                    <a:pt x="12441301" y="0"/>
                  </a:lnTo>
                  <a:lnTo>
                    <a:pt x="12441301" y="6350"/>
                  </a:lnTo>
                  <a:lnTo>
                    <a:pt x="12441301" y="0"/>
                  </a:lnTo>
                  <a:cubicBezTo>
                    <a:pt x="12532614" y="0"/>
                    <a:pt x="12606782" y="73914"/>
                    <a:pt x="12606782" y="165100"/>
                  </a:cubicBezTo>
                  <a:lnTo>
                    <a:pt x="12600432" y="165100"/>
                  </a:lnTo>
                  <a:lnTo>
                    <a:pt x="12606782" y="165100"/>
                  </a:lnTo>
                  <a:lnTo>
                    <a:pt x="12606782" y="4144391"/>
                  </a:lnTo>
                  <a:lnTo>
                    <a:pt x="12600432" y="4144391"/>
                  </a:lnTo>
                  <a:lnTo>
                    <a:pt x="12606782" y="4144391"/>
                  </a:lnTo>
                  <a:cubicBezTo>
                    <a:pt x="12606782" y="4235577"/>
                    <a:pt x="12532741" y="4309491"/>
                    <a:pt x="12441301" y="4309491"/>
                  </a:cubicBezTo>
                  <a:lnTo>
                    <a:pt x="12441301" y="4303141"/>
                  </a:lnTo>
                  <a:lnTo>
                    <a:pt x="12441301" y="4309491"/>
                  </a:lnTo>
                  <a:lnTo>
                    <a:pt x="165481" y="4309491"/>
                  </a:lnTo>
                  <a:lnTo>
                    <a:pt x="165481" y="4303141"/>
                  </a:lnTo>
                  <a:lnTo>
                    <a:pt x="165481" y="4309491"/>
                  </a:lnTo>
                  <a:cubicBezTo>
                    <a:pt x="74168" y="4309491"/>
                    <a:pt x="0" y="4235577"/>
                    <a:pt x="0" y="4144391"/>
                  </a:cubicBezTo>
                  <a:lnTo>
                    <a:pt x="0" y="165100"/>
                  </a:lnTo>
                  <a:lnTo>
                    <a:pt x="6350" y="165100"/>
                  </a:lnTo>
                  <a:lnTo>
                    <a:pt x="0" y="165100"/>
                  </a:lnTo>
                  <a:moveTo>
                    <a:pt x="12700" y="165100"/>
                  </a:moveTo>
                  <a:lnTo>
                    <a:pt x="12700" y="4144391"/>
                  </a:lnTo>
                  <a:lnTo>
                    <a:pt x="6350" y="4144391"/>
                  </a:lnTo>
                  <a:lnTo>
                    <a:pt x="12700" y="4144391"/>
                  </a:lnTo>
                  <a:cubicBezTo>
                    <a:pt x="12700" y="4228592"/>
                    <a:pt x="81026" y="4296791"/>
                    <a:pt x="165481" y="4296791"/>
                  </a:cubicBezTo>
                  <a:lnTo>
                    <a:pt x="12441301" y="4296791"/>
                  </a:lnTo>
                  <a:cubicBezTo>
                    <a:pt x="12525629" y="4296791"/>
                    <a:pt x="12594082" y="4228592"/>
                    <a:pt x="12594082" y="4144391"/>
                  </a:cubicBezTo>
                  <a:lnTo>
                    <a:pt x="12594082" y="165100"/>
                  </a:lnTo>
                  <a:cubicBezTo>
                    <a:pt x="12594082" y="80899"/>
                    <a:pt x="12525756" y="12700"/>
                    <a:pt x="12441301" y="12700"/>
                  </a:cubicBezTo>
                  <a:lnTo>
                    <a:pt x="165481" y="12700"/>
                  </a:lnTo>
                  <a:lnTo>
                    <a:pt x="165481" y="6350"/>
                  </a:lnTo>
                  <a:lnTo>
                    <a:pt x="165481" y="12700"/>
                  </a:lnTo>
                  <a:cubicBezTo>
                    <a:pt x="81026" y="12700"/>
                    <a:pt x="12700" y="80899"/>
                    <a:pt x="12700" y="165100"/>
                  </a:cubicBezTo>
                  <a:close/>
                </a:path>
              </a:pathLst>
            </a:custGeom>
            <a:solidFill>
              <a:srgbClr val="C5D2CF"/>
            </a:solidFill>
          </p:spPr>
        </p:sp>
      </p:grpSp>
      <p:sp>
        <p:nvSpPr>
          <p:cNvPr id="17" name="TextBox 17"/>
          <p:cNvSpPr txBox="1"/>
          <p:nvPr/>
        </p:nvSpPr>
        <p:spPr>
          <a:xfrm>
            <a:off x="1028700" y="5373514"/>
            <a:ext cx="8859441" cy="539354"/>
          </a:xfrm>
          <a:prstGeom prst="rect">
            <a:avLst/>
          </a:prstGeom>
        </p:spPr>
        <p:txBody>
          <a:bodyPr lIns="0" tIns="0" rIns="0" bIns="0" rtlCol="0" anchor="t">
            <a:spAutoFit/>
          </a:bodyPr>
          <a:lstStyle/>
          <a:p>
            <a:pPr algn="l">
              <a:lnSpc>
                <a:spcPts val="3562"/>
              </a:lnSpc>
            </a:pPr>
            <a:r>
              <a:rPr lang="en-US" sz="2187" b="1">
                <a:solidFill>
                  <a:srgbClr val="2C3249"/>
                </a:solidFill>
                <a:latin typeface="Martel Sans Bold"/>
                <a:ea typeface="Martel Sans Bold"/>
                <a:cs typeface="Martel Sans Bold"/>
                <a:sym typeface="Martel Sans Bold"/>
              </a:rPr>
              <a:t>Why Extra Trees?</a:t>
            </a:r>
          </a:p>
        </p:txBody>
      </p:sp>
      <p:sp>
        <p:nvSpPr>
          <p:cNvPr id="18" name="TextBox 18"/>
          <p:cNvSpPr txBox="1"/>
          <p:nvPr/>
        </p:nvSpPr>
        <p:spPr>
          <a:xfrm>
            <a:off x="1285280" y="6334125"/>
            <a:ext cx="8859441"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C3249"/>
                </a:solidFill>
                <a:latin typeface="Martel Sans"/>
                <a:ea typeface="Martel Sans"/>
                <a:cs typeface="Martel Sans"/>
                <a:sym typeface="Martel Sans"/>
              </a:rPr>
              <a:t>Handles data variability effectively.</a:t>
            </a:r>
          </a:p>
        </p:txBody>
      </p:sp>
      <p:sp>
        <p:nvSpPr>
          <p:cNvPr id="19" name="TextBox 19"/>
          <p:cNvSpPr txBox="1"/>
          <p:nvPr/>
        </p:nvSpPr>
        <p:spPr>
          <a:xfrm>
            <a:off x="1285280" y="7043142"/>
            <a:ext cx="8859441" cy="53935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C3249"/>
                </a:solidFill>
                <a:latin typeface="Martel Sans"/>
                <a:ea typeface="Martel Sans"/>
                <a:cs typeface="Martel Sans"/>
                <a:sym typeface="Martel Sans"/>
              </a:rPr>
              <a:t>Reduces overfitting through randomization.</a:t>
            </a:r>
          </a:p>
        </p:txBody>
      </p:sp>
      <p:sp>
        <p:nvSpPr>
          <p:cNvPr id="20" name="TextBox 20"/>
          <p:cNvSpPr txBox="1"/>
          <p:nvPr/>
        </p:nvSpPr>
        <p:spPr>
          <a:xfrm>
            <a:off x="1285280" y="7614940"/>
            <a:ext cx="8859441"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C3249"/>
                </a:solidFill>
                <a:latin typeface="Martel Sans"/>
                <a:ea typeface="Martel Sans"/>
                <a:cs typeface="Martel Sans"/>
                <a:sym typeface="Martel Sans"/>
              </a:rPr>
              <a:t>Achieves perfect precision, ensuring no false positives in spam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107156"/>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Freeform 6" descr="preencoded.png"/>
          <p:cNvSpPr/>
          <p:nvPr/>
        </p:nvSpPr>
        <p:spPr>
          <a:xfrm>
            <a:off x="812155" y="3005584"/>
            <a:ext cx="6587877" cy="3695551"/>
          </a:xfrm>
          <a:custGeom>
            <a:avLst/>
            <a:gdLst/>
            <a:ahLst/>
            <a:cxnLst/>
            <a:rect l="l" t="t" r="r" b="b"/>
            <a:pathLst>
              <a:path w="6587877" h="3695551">
                <a:moveTo>
                  <a:pt x="0" y="0"/>
                </a:moveTo>
                <a:lnTo>
                  <a:pt x="6587877" y="0"/>
                </a:lnTo>
                <a:lnTo>
                  <a:pt x="6587877" y="3695551"/>
                </a:lnTo>
                <a:lnTo>
                  <a:pt x="0" y="3695551"/>
                </a:lnTo>
                <a:lnTo>
                  <a:pt x="0" y="0"/>
                </a:lnTo>
                <a:close/>
              </a:path>
            </a:pathLst>
          </a:custGeom>
          <a:blipFill>
            <a:blip r:embed="rId3"/>
            <a:stretch>
              <a:fillRect l="-23" r="-23"/>
            </a:stretch>
          </a:blipFill>
        </p:spPr>
      </p:sp>
      <p:sp>
        <p:nvSpPr>
          <p:cNvPr id="7" name="TextBox 7"/>
          <p:cNvSpPr txBox="1"/>
          <p:nvPr/>
        </p:nvSpPr>
        <p:spPr>
          <a:xfrm>
            <a:off x="9436596" y="1304032"/>
            <a:ext cx="5859959" cy="763191"/>
          </a:xfrm>
          <a:prstGeom prst="rect">
            <a:avLst/>
          </a:prstGeom>
        </p:spPr>
        <p:txBody>
          <a:bodyPr lIns="0" tIns="0" rIns="0" bIns="0" rtlCol="0" anchor="t">
            <a:spAutoFit/>
          </a:bodyPr>
          <a:lstStyle/>
          <a:p>
            <a:pPr algn="l">
              <a:lnSpc>
                <a:spcPts val="5687"/>
              </a:lnSpc>
            </a:pPr>
            <a:r>
              <a:rPr lang="en-US" sz="4562" b="1">
                <a:solidFill>
                  <a:srgbClr val="272D45"/>
                </a:solidFill>
                <a:latin typeface="Arimo Bold"/>
                <a:ea typeface="Arimo Bold"/>
                <a:cs typeface="Arimo Bold"/>
                <a:sym typeface="Arimo Bold"/>
              </a:rPr>
              <a:t>Future Enhancements</a:t>
            </a:r>
          </a:p>
        </p:txBody>
      </p:sp>
      <p:grpSp>
        <p:nvGrpSpPr>
          <p:cNvPr id="8" name="Group 8"/>
          <p:cNvGrpSpPr/>
          <p:nvPr/>
        </p:nvGrpSpPr>
        <p:grpSpPr>
          <a:xfrm>
            <a:off x="9436596" y="3005584"/>
            <a:ext cx="8140171" cy="6579422"/>
            <a:chOff x="0" y="0"/>
            <a:chExt cx="10853561" cy="8772563"/>
          </a:xfrm>
        </p:grpSpPr>
        <p:sp>
          <p:nvSpPr>
            <p:cNvPr id="9" name="TextBox 9"/>
            <p:cNvSpPr txBox="1"/>
            <p:nvPr/>
          </p:nvSpPr>
          <p:spPr>
            <a:xfrm>
              <a:off x="0" y="-76200"/>
              <a:ext cx="10853561" cy="459127"/>
            </a:xfrm>
            <a:prstGeom prst="rect">
              <a:avLst/>
            </a:prstGeom>
          </p:spPr>
          <p:txBody>
            <a:bodyPr lIns="0" tIns="0" rIns="0" bIns="0" rtlCol="0" anchor="t">
              <a:spAutoFit/>
            </a:bodyPr>
            <a:lstStyle/>
            <a:p>
              <a:pPr marL="288429" lvl="1" indent="-144214" algn="l">
                <a:lnSpc>
                  <a:spcPts val="3033"/>
                </a:lnSpc>
                <a:buAutoNum type="arabicPeriod"/>
              </a:pPr>
              <a:r>
                <a:rPr lang="en-US" sz="1912" b="1">
                  <a:solidFill>
                    <a:srgbClr val="2C3249"/>
                  </a:solidFill>
                  <a:latin typeface="Martel Sans Bold"/>
                  <a:ea typeface="Martel Sans Bold"/>
                  <a:cs typeface="Martel Sans Bold"/>
                  <a:sym typeface="Martel Sans Bold"/>
                </a:rPr>
                <a:t>Advanced Models:</a:t>
              </a:r>
            </a:p>
          </p:txBody>
        </p:sp>
        <p:sp>
          <p:nvSpPr>
            <p:cNvPr id="10" name="TextBox 10"/>
            <p:cNvSpPr txBox="1"/>
            <p:nvPr/>
          </p:nvSpPr>
          <p:spPr>
            <a:xfrm>
              <a:off x="0" y="545712"/>
              <a:ext cx="10853561" cy="967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Implement state-of-the-art models like </a:t>
              </a:r>
              <a:r>
                <a:rPr lang="en-US" sz="1912" b="1">
                  <a:solidFill>
                    <a:srgbClr val="2C3249"/>
                  </a:solidFill>
                  <a:latin typeface="Martel Sans Bold"/>
                  <a:ea typeface="Martel Sans Bold"/>
                  <a:cs typeface="Martel Sans Bold"/>
                  <a:sym typeface="Martel Sans Bold"/>
                </a:rPr>
                <a:t>BERT</a:t>
              </a:r>
              <a:r>
                <a:rPr lang="en-US" sz="1912">
                  <a:solidFill>
                    <a:srgbClr val="2C3249"/>
                  </a:solidFill>
                  <a:latin typeface="Martel Sans"/>
                  <a:ea typeface="Martel Sans"/>
                  <a:cs typeface="Martel Sans"/>
                  <a:sym typeface="Martel Sans"/>
                </a:rPr>
                <a:t> (Bidirectional Encoder Representations from Transformers).</a:t>
              </a:r>
            </a:p>
          </p:txBody>
        </p:sp>
        <p:sp>
          <p:nvSpPr>
            <p:cNvPr id="11" name="TextBox 11"/>
            <p:cNvSpPr txBox="1"/>
            <p:nvPr/>
          </p:nvSpPr>
          <p:spPr>
            <a:xfrm>
              <a:off x="0" y="1687925"/>
              <a:ext cx="10853561" cy="967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Improve the accuracy and ability to understand complex text patterns.</a:t>
              </a:r>
            </a:p>
          </p:txBody>
        </p:sp>
        <p:sp>
          <p:nvSpPr>
            <p:cNvPr id="12" name="TextBox 12"/>
            <p:cNvSpPr txBox="1"/>
            <p:nvPr/>
          </p:nvSpPr>
          <p:spPr>
            <a:xfrm>
              <a:off x="0" y="2830141"/>
              <a:ext cx="10853561" cy="459127"/>
            </a:xfrm>
            <a:prstGeom prst="rect">
              <a:avLst/>
            </a:prstGeom>
          </p:spPr>
          <p:txBody>
            <a:bodyPr lIns="0" tIns="0" rIns="0" bIns="0" rtlCol="0" anchor="t">
              <a:spAutoFit/>
            </a:bodyPr>
            <a:lstStyle/>
            <a:p>
              <a:pPr algn="l">
                <a:lnSpc>
                  <a:spcPts val="3033"/>
                </a:lnSpc>
              </a:pPr>
              <a:r>
                <a:rPr lang="en-US" sz="1912" b="1">
                  <a:solidFill>
                    <a:srgbClr val="2C3249"/>
                  </a:solidFill>
                  <a:latin typeface="Martel Sans Bold"/>
                  <a:ea typeface="Martel Sans Bold"/>
                  <a:cs typeface="Martel Sans Bold"/>
                  <a:sym typeface="Martel Sans Bold"/>
                </a:rPr>
                <a:t>2. Multilingual Support:</a:t>
              </a:r>
            </a:p>
          </p:txBody>
        </p:sp>
        <p:sp>
          <p:nvSpPr>
            <p:cNvPr id="13" name="TextBox 13"/>
            <p:cNvSpPr txBox="1"/>
            <p:nvPr/>
          </p:nvSpPr>
          <p:spPr>
            <a:xfrm>
              <a:off x="0" y="3452053"/>
              <a:ext cx="10853561" cy="967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Extend the classifier to process messages in multiple languages.</a:t>
              </a:r>
            </a:p>
          </p:txBody>
        </p:sp>
        <p:sp>
          <p:nvSpPr>
            <p:cNvPr id="14" name="TextBox 14"/>
            <p:cNvSpPr txBox="1"/>
            <p:nvPr/>
          </p:nvSpPr>
          <p:spPr>
            <a:xfrm>
              <a:off x="0" y="4581964"/>
              <a:ext cx="10853561" cy="459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Enhance usability across diverse user bases.</a:t>
              </a:r>
            </a:p>
          </p:txBody>
        </p:sp>
        <p:sp>
          <p:nvSpPr>
            <p:cNvPr id="15" name="TextBox 15"/>
            <p:cNvSpPr txBox="1"/>
            <p:nvPr/>
          </p:nvSpPr>
          <p:spPr>
            <a:xfrm>
              <a:off x="0" y="5203876"/>
              <a:ext cx="10853561" cy="459127"/>
            </a:xfrm>
            <a:prstGeom prst="rect">
              <a:avLst/>
            </a:prstGeom>
          </p:spPr>
          <p:txBody>
            <a:bodyPr lIns="0" tIns="0" rIns="0" bIns="0" rtlCol="0" anchor="t">
              <a:spAutoFit/>
            </a:bodyPr>
            <a:lstStyle/>
            <a:p>
              <a:pPr algn="l">
                <a:lnSpc>
                  <a:spcPts val="3033"/>
                </a:lnSpc>
              </a:pPr>
              <a:r>
                <a:rPr lang="en-US" sz="1912" b="1">
                  <a:solidFill>
                    <a:srgbClr val="2C3249"/>
                  </a:solidFill>
                  <a:latin typeface="Martel Sans Bold"/>
                  <a:ea typeface="Martel Sans Bold"/>
                  <a:cs typeface="Martel Sans Bold"/>
                  <a:sym typeface="Martel Sans Bold"/>
                </a:rPr>
                <a:t>3. Mobile Compatibility:</a:t>
              </a:r>
            </a:p>
          </p:txBody>
        </p:sp>
        <p:sp>
          <p:nvSpPr>
            <p:cNvPr id="16" name="TextBox 16"/>
            <p:cNvSpPr txBox="1"/>
            <p:nvPr/>
          </p:nvSpPr>
          <p:spPr>
            <a:xfrm>
              <a:off x="0" y="5825788"/>
              <a:ext cx="10853561" cy="459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Develop a </a:t>
              </a:r>
              <a:r>
                <a:rPr lang="en-US" sz="1912" b="1">
                  <a:solidFill>
                    <a:srgbClr val="2C3249"/>
                  </a:solidFill>
                  <a:latin typeface="Martel Sans Bold"/>
                  <a:ea typeface="Martel Sans Bold"/>
                  <a:cs typeface="Martel Sans Bold"/>
                  <a:sym typeface="Martel Sans Bold"/>
                </a:rPr>
                <a:t>mobile-friendly app</a:t>
              </a:r>
              <a:r>
                <a:rPr lang="en-US" sz="1912">
                  <a:solidFill>
                    <a:srgbClr val="2C3249"/>
                  </a:solidFill>
                  <a:latin typeface="Martel Sans"/>
                  <a:ea typeface="Martel Sans"/>
                  <a:cs typeface="Martel Sans"/>
                  <a:sym typeface="Martel Sans"/>
                </a:rPr>
                <a:t> for spam detection on the go.</a:t>
              </a:r>
            </a:p>
          </p:txBody>
        </p:sp>
        <p:sp>
          <p:nvSpPr>
            <p:cNvPr id="17" name="TextBox 17"/>
            <p:cNvSpPr txBox="1"/>
            <p:nvPr/>
          </p:nvSpPr>
          <p:spPr>
            <a:xfrm>
              <a:off x="0" y="6447700"/>
              <a:ext cx="10853561" cy="459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Ensure seamless integration with SMS and email apps.</a:t>
              </a:r>
            </a:p>
          </p:txBody>
        </p:sp>
        <p:sp>
          <p:nvSpPr>
            <p:cNvPr id="18" name="TextBox 18"/>
            <p:cNvSpPr txBox="1"/>
            <p:nvPr/>
          </p:nvSpPr>
          <p:spPr>
            <a:xfrm>
              <a:off x="0" y="7069612"/>
              <a:ext cx="10853561" cy="459127"/>
            </a:xfrm>
            <a:prstGeom prst="rect">
              <a:avLst/>
            </a:prstGeom>
          </p:spPr>
          <p:txBody>
            <a:bodyPr lIns="0" tIns="0" rIns="0" bIns="0" rtlCol="0" anchor="t">
              <a:spAutoFit/>
            </a:bodyPr>
            <a:lstStyle/>
            <a:p>
              <a:pPr algn="l">
                <a:lnSpc>
                  <a:spcPts val="3033"/>
                </a:lnSpc>
              </a:pPr>
              <a:r>
                <a:rPr lang="en-US" sz="1912" b="1">
                  <a:solidFill>
                    <a:srgbClr val="2C3249"/>
                  </a:solidFill>
                  <a:latin typeface="Martel Sans Bold"/>
                  <a:ea typeface="Martel Sans Bold"/>
                  <a:cs typeface="Martel Sans Bold"/>
                  <a:sym typeface="Martel Sans Bold"/>
                </a:rPr>
                <a:t>4. Customizable Filters:</a:t>
              </a:r>
            </a:p>
          </p:txBody>
        </p:sp>
        <p:sp>
          <p:nvSpPr>
            <p:cNvPr id="19" name="TextBox 19"/>
            <p:cNvSpPr txBox="1"/>
            <p:nvPr/>
          </p:nvSpPr>
          <p:spPr>
            <a:xfrm>
              <a:off x="0" y="7691524"/>
              <a:ext cx="10853561" cy="459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Allow users to define specific rules for spam detection.</a:t>
              </a:r>
            </a:p>
          </p:txBody>
        </p:sp>
        <p:sp>
          <p:nvSpPr>
            <p:cNvPr id="20" name="TextBox 20"/>
            <p:cNvSpPr txBox="1"/>
            <p:nvPr/>
          </p:nvSpPr>
          <p:spPr>
            <a:xfrm>
              <a:off x="0" y="8313436"/>
              <a:ext cx="10853561" cy="459127"/>
            </a:xfrm>
            <a:prstGeom prst="rect">
              <a:avLst/>
            </a:prstGeom>
          </p:spPr>
          <p:txBody>
            <a:bodyPr lIns="0" tIns="0" rIns="0" bIns="0" rtlCol="0" anchor="t">
              <a:spAutoFit/>
            </a:bodyPr>
            <a:lstStyle/>
            <a:p>
              <a:pPr marL="740702" lvl="2" indent="-246901" algn="l">
                <a:lnSpc>
                  <a:spcPts val="3033"/>
                </a:lnSpc>
                <a:buFont typeface="Arial"/>
                <a:buChar char="⚬"/>
              </a:pPr>
              <a:r>
                <a:rPr lang="en-US" sz="1912">
                  <a:solidFill>
                    <a:srgbClr val="2C3249"/>
                  </a:solidFill>
                  <a:latin typeface="Martel Sans"/>
                  <a:ea typeface="Martel Sans"/>
                  <a:cs typeface="Martel Sans"/>
                  <a:sym typeface="Martel Sans"/>
                </a:rPr>
                <a:t>Enable personalized keyword-based or pattern-based filtering.</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85725"/>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sp>
        <p:nvSpPr>
          <p:cNvPr id="8" name="TextBox 8"/>
          <p:cNvSpPr txBox="1"/>
          <p:nvPr/>
        </p:nvSpPr>
        <p:spPr>
          <a:xfrm>
            <a:off x="992237" y="2843064"/>
            <a:ext cx="8703171" cy="1776413"/>
          </a:xfrm>
          <a:prstGeom prst="rect">
            <a:avLst/>
          </a:prstGeom>
        </p:spPr>
        <p:txBody>
          <a:bodyPr lIns="0" tIns="0" rIns="0" bIns="0" rtlCol="0" anchor="t">
            <a:spAutoFit/>
          </a:bodyPr>
          <a:lstStyle/>
          <a:p>
            <a:pPr algn="l">
              <a:lnSpc>
                <a:spcPts val="6937"/>
              </a:lnSpc>
            </a:pPr>
            <a:r>
              <a:rPr lang="en-US" sz="5562">
                <a:solidFill>
                  <a:srgbClr val="272D45"/>
                </a:solidFill>
                <a:latin typeface="Arimo"/>
                <a:ea typeface="Arimo"/>
                <a:cs typeface="Arimo"/>
                <a:sym typeface="Arimo"/>
              </a:rPr>
              <a:t>Conclusion and Future Work</a:t>
            </a:r>
          </a:p>
        </p:txBody>
      </p:sp>
      <p:sp>
        <p:nvSpPr>
          <p:cNvPr id="9" name="TextBox 9"/>
          <p:cNvSpPr txBox="1"/>
          <p:nvPr/>
        </p:nvSpPr>
        <p:spPr>
          <a:xfrm>
            <a:off x="992238" y="5057775"/>
            <a:ext cx="9445526" cy="3261122"/>
          </a:xfrm>
          <a:prstGeom prst="rect">
            <a:avLst/>
          </a:prstGeom>
        </p:spPr>
        <p:txBody>
          <a:bodyPr lIns="0" tIns="0" rIns="0" bIns="0" rtlCol="0" anchor="t">
            <a:spAutoFit/>
          </a:bodyPr>
          <a:lstStyle/>
          <a:p>
            <a:pPr algn="l">
              <a:lnSpc>
                <a:spcPts val="3562"/>
              </a:lnSpc>
            </a:pPr>
            <a:r>
              <a:rPr lang="en-US" sz="2187">
                <a:solidFill>
                  <a:srgbClr val="2C3249"/>
                </a:solidFill>
                <a:latin typeface="Martel Sans"/>
                <a:ea typeface="Martel Sans"/>
                <a:cs typeface="Martel Sans"/>
                <a:sym typeface="Martel Sans"/>
              </a:rPr>
              <a:t>The spam classifier project successfully developed a robust and accurate system for detecting and filtering spam messages. The model demonstrated high performance across various metrics, achieving a high accuracy rate and effectively identifying spam messages. Future efforts will focus on enhancing the system's ability to adapt to evolving spam tactics, minimize false positives, and improve real-time processing capabilities.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BF4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sp>
      <p:grpSp>
        <p:nvGrpSpPr>
          <p:cNvPr id="8" name="Group 8"/>
          <p:cNvGrpSpPr/>
          <p:nvPr/>
        </p:nvGrpSpPr>
        <p:grpSpPr>
          <a:xfrm>
            <a:off x="0" y="0"/>
            <a:ext cx="18288000" cy="10287000"/>
            <a:chOff x="0" y="0"/>
            <a:chExt cx="24384000" cy="13716000"/>
          </a:xfrm>
        </p:grpSpPr>
        <p:sp>
          <p:nvSpPr>
            <p:cNvPr id="9" name="Freeform 9"/>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72157"/>
              </a:srgbClr>
            </a:solidFill>
          </p:spPr>
        </p:sp>
      </p:grpSp>
      <p:sp>
        <p:nvSpPr>
          <p:cNvPr id="10" name="Freeform 10" descr="preencoded.png"/>
          <p:cNvSpPr/>
          <p:nvPr/>
        </p:nvSpPr>
        <p:spPr>
          <a:xfrm>
            <a:off x="992238" y="1386631"/>
            <a:ext cx="13357622" cy="7513587"/>
          </a:xfrm>
          <a:custGeom>
            <a:avLst/>
            <a:gdLst/>
            <a:ahLst/>
            <a:cxnLst/>
            <a:rect l="l" t="t" r="r" b="b"/>
            <a:pathLst>
              <a:path w="13357622" h="7513587">
                <a:moveTo>
                  <a:pt x="0" y="0"/>
                </a:moveTo>
                <a:lnTo>
                  <a:pt x="13357622" y="0"/>
                </a:lnTo>
                <a:lnTo>
                  <a:pt x="13357622" y="7513588"/>
                </a:lnTo>
                <a:lnTo>
                  <a:pt x="0" y="7513588"/>
                </a:lnTo>
                <a:lnTo>
                  <a:pt x="0" y="0"/>
                </a:lnTo>
                <a:close/>
              </a:path>
            </a:pathLst>
          </a:custGeom>
          <a:blipFill>
            <a:blip r:embed="rId6"/>
            <a:stretch>
              <a:fillRect t="-24" b="-2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723</Words>
  <Application>Microsoft Office PowerPoint</Application>
  <PresentationFormat>Custom</PresentationFormat>
  <Paragraphs>91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Arimo Bold</vt:lpstr>
      <vt:lpstr>Martel Sans</vt:lpstr>
      <vt:lpstr>Arial</vt:lpstr>
      <vt:lpstr>Arimo</vt:lpstr>
      <vt:lpstr>Martel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EmailSMS-Spam-Classifier-Report.pptx</dc:title>
  <cp:lastModifiedBy>Gaurav Rawat</cp:lastModifiedBy>
  <cp:revision>3</cp:revision>
  <dcterms:created xsi:type="dcterms:W3CDTF">2006-08-16T00:00:00Z</dcterms:created>
  <dcterms:modified xsi:type="dcterms:W3CDTF">2025-01-17T15:08:09Z</dcterms:modified>
  <dc:identifier>DAGcX7TxSqs</dc:identifier>
</cp:coreProperties>
</file>